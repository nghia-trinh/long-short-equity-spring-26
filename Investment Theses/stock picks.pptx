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9" r:id="rId2"/>
    <p:sldId id="262" r:id="rId3"/>
    <p:sldId id="256" r:id="rId4"/>
    <p:sldId id="261" r:id="rId5"/>
  </p:sldIdLst>
  <p:sldSz cx="68580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876"/>
    <a:srgbClr val="0D223F"/>
    <a:srgbClr val="F4DF93"/>
    <a:srgbClr val="FFC400"/>
    <a:srgbClr val="007D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B1696C-A2E0-430A-BBEB-2B58A352706C}" v="86" dt="2026-04-01T20:04:20.4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94" autoAdjust="0"/>
    <p:restoredTop sz="94660"/>
  </p:normalViewPr>
  <p:slideViewPr>
    <p:cSldViewPr snapToGrid="0">
      <p:cViewPr>
        <p:scale>
          <a:sx n="59" d="100"/>
          <a:sy n="59" d="100"/>
        </p:scale>
        <p:origin x="384" y="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46133"/>
            <a:ext cx="5829300" cy="3501813"/>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82989"/>
            <a:ext cx="5143500" cy="2428451"/>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9FE128-3ACA-4769-8EB1-5508758402B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1380457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FE128-3ACA-4769-8EB1-5508758402B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2089588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507618"/>
            <a:ext cx="5915025" cy="4184014"/>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731215"/>
            <a:ext cx="5915025" cy="2200274"/>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9FE128-3ACA-4769-8EB1-5508758402B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1331707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77584"/>
            <a:ext cx="291465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77584"/>
            <a:ext cx="291465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9FE128-3ACA-4769-8EB1-5508758402B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537770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35519"/>
            <a:ext cx="5915025" cy="1944159"/>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65706"/>
            <a:ext cx="2901255" cy="120840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74110"/>
            <a:ext cx="2901255"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65706"/>
            <a:ext cx="2915543" cy="120840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74110"/>
            <a:ext cx="2915543"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99FE128-3ACA-4769-8EB1-5508758402B4}" type="datetimeFigureOut">
              <a:rPr lang="en-US" smtClean="0"/>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229630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99FE128-3ACA-4769-8EB1-5508758402B4}" type="datetimeFigureOut">
              <a:rPr lang="en-US" smtClean="0"/>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2908707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9FE128-3ACA-4769-8EB1-5508758402B4}" type="datetimeFigureOut">
              <a:rPr lang="en-US" smtClean="0"/>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375620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70560"/>
            <a:ext cx="2211884" cy="234696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48226"/>
            <a:ext cx="3471863" cy="714798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017520"/>
            <a:ext cx="2211884" cy="5590329"/>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99FE128-3ACA-4769-8EB1-5508758402B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1781357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70560"/>
            <a:ext cx="2211884" cy="234696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48226"/>
            <a:ext cx="3471863" cy="7147983"/>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017520"/>
            <a:ext cx="2211884" cy="5590329"/>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99FE128-3ACA-4769-8EB1-5508758402B4}" type="datetimeFigureOut">
              <a:rPr lang="en-US" smtClean="0"/>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3153646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FE128-3ACA-4769-8EB1-5508758402B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2145795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35517"/>
            <a:ext cx="1478756" cy="85240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35517"/>
            <a:ext cx="4350544"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FE128-3ACA-4769-8EB1-5508758402B4}" type="datetimeFigureOut">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2EB8E-EF38-47E4-9137-EDAE6399B33B}" type="slidenum">
              <a:rPr lang="en-US" smtClean="0"/>
              <a:t>‹#›</a:t>
            </a:fld>
            <a:endParaRPr lang="en-US"/>
          </a:p>
        </p:txBody>
      </p:sp>
    </p:spTree>
    <p:extLst>
      <p:ext uri="{BB962C8B-B14F-4D97-AF65-F5344CB8AC3E}">
        <p14:creationId xmlns:p14="http://schemas.microsoft.com/office/powerpoint/2010/main" val="3497319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35519"/>
            <a:ext cx="591502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77584"/>
            <a:ext cx="591502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322649"/>
            <a:ext cx="1543050" cy="535517"/>
          </a:xfrm>
          <a:prstGeom prst="rect">
            <a:avLst/>
          </a:prstGeom>
        </p:spPr>
        <p:txBody>
          <a:bodyPr vert="horz" lIns="91440" tIns="45720" rIns="91440" bIns="45720" rtlCol="0" anchor="ctr"/>
          <a:lstStyle>
            <a:lvl1pPr algn="l">
              <a:defRPr sz="900">
                <a:solidFill>
                  <a:schemeClr val="tx1">
                    <a:tint val="82000"/>
                  </a:schemeClr>
                </a:solidFill>
              </a:defRPr>
            </a:lvl1pPr>
          </a:lstStyle>
          <a:p>
            <a:fld id="{999FE128-3ACA-4769-8EB1-5508758402B4}" type="datetimeFigureOut">
              <a:rPr lang="en-US" smtClean="0"/>
              <a:t>4/1/2026</a:t>
            </a:fld>
            <a:endParaRPr lang="en-US"/>
          </a:p>
        </p:txBody>
      </p:sp>
      <p:sp>
        <p:nvSpPr>
          <p:cNvPr id="5" name="Footer Placeholder 4"/>
          <p:cNvSpPr>
            <a:spLocks noGrp="1"/>
          </p:cNvSpPr>
          <p:nvPr>
            <p:ph type="ftr" sz="quarter" idx="3"/>
          </p:nvPr>
        </p:nvSpPr>
        <p:spPr>
          <a:xfrm>
            <a:off x="2271713" y="9322649"/>
            <a:ext cx="2314575" cy="535517"/>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322649"/>
            <a:ext cx="1543050" cy="535517"/>
          </a:xfrm>
          <a:prstGeom prst="rect">
            <a:avLst/>
          </a:prstGeom>
        </p:spPr>
        <p:txBody>
          <a:bodyPr vert="horz" lIns="91440" tIns="45720" rIns="91440" bIns="45720" rtlCol="0" anchor="ctr"/>
          <a:lstStyle>
            <a:lvl1pPr algn="r">
              <a:defRPr sz="900">
                <a:solidFill>
                  <a:schemeClr val="tx1">
                    <a:tint val="82000"/>
                  </a:schemeClr>
                </a:solidFill>
              </a:defRPr>
            </a:lvl1pPr>
          </a:lstStyle>
          <a:p>
            <a:fld id="{BD52EB8E-EF38-47E4-9137-EDAE6399B33B}" type="slidenum">
              <a:rPr lang="en-US" smtClean="0"/>
              <a:t>‹#›</a:t>
            </a:fld>
            <a:endParaRPr lang="en-US"/>
          </a:p>
        </p:txBody>
      </p:sp>
    </p:spTree>
    <p:extLst>
      <p:ext uri="{BB962C8B-B14F-4D97-AF65-F5344CB8AC3E}">
        <p14:creationId xmlns:p14="http://schemas.microsoft.com/office/powerpoint/2010/main" val="21335951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CDED4-3B6A-3305-484F-7BDE544ED7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E34A145-F4DB-9257-B929-38B9AAE36569}"/>
              </a:ext>
            </a:extLst>
          </p:cNvPr>
          <p:cNvSpPr>
            <a:spLocks noGrp="1"/>
          </p:cNvSpPr>
          <p:nvPr>
            <p:ph type="ctrTitle"/>
          </p:nvPr>
        </p:nvSpPr>
        <p:spPr>
          <a:xfrm>
            <a:off x="-15476" y="192267"/>
            <a:ext cx="6947452" cy="664824"/>
          </a:xfrm>
        </p:spPr>
        <p:txBody>
          <a:bodyPr>
            <a:normAutofit/>
          </a:bodyPr>
          <a:lstStyle/>
          <a:p>
            <a:pPr algn="l"/>
            <a:r>
              <a:rPr lang="en-US" sz="3200" b="1" dirty="0">
                <a:solidFill>
                  <a:srgbClr val="004876"/>
                </a:solidFill>
              </a:rPr>
              <a:t>Toll Brothers Inc (NYSE: TOL)</a:t>
            </a:r>
          </a:p>
        </p:txBody>
      </p:sp>
      <p:sp>
        <p:nvSpPr>
          <p:cNvPr id="6" name="Rectangle 5">
            <a:extLst>
              <a:ext uri="{FF2B5EF4-FFF2-40B4-BE49-F238E27FC236}">
                <a16:creationId xmlns:a16="http://schemas.microsoft.com/office/drawing/2014/main" id="{44810986-B210-72C6-1ED5-CA94DD20420C}"/>
              </a:ext>
            </a:extLst>
          </p:cNvPr>
          <p:cNvSpPr/>
          <p:nvPr/>
        </p:nvSpPr>
        <p:spPr>
          <a:xfrm>
            <a:off x="0" y="991098"/>
            <a:ext cx="6858000" cy="42529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8BECB42-7800-EC08-C9A6-94557B2D111F}"/>
              </a:ext>
            </a:extLst>
          </p:cNvPr>
          <p:cNvSpPr txBox="1"/>
          <p:nvPr/>
        </p:nvSpPr>
        <p:spPr>
          <a:xfrm>
            <a:off x="53917" y="1747110"/>
            <a:ext cx="6718872" cy="1092607"/>
          </a:xfrm>
          <a:prstGeom prst="rect">
            <a:avLst/>
          </a:prstGeom>
          <a:noFill/>
          <a:ln>
            <a:noFill/>
          </a:ln>
        </p:spPr>
        <p:txBody>
          <a:bodyPr wrap="square" lIns="91440" tIns="45720" rIns="91440" bIns="45720" rtlCol="0" anchor="t">
            <a:spAutoFit/>
          </a:bodyPr>
          <a:lstStyle/>
          <a:p>
            <a:r>
              <a:rPr lang="en-US" sz="1300" b="1" dirty="0">
                <a:solidFill>
                  <a:srgbClr val="004876"/>
                </a:solidFill>
              </a:rPr>
              <a:t>Toll Brothers’ luxury-focus and affluent customer base and its strong financial position underpin its potential to outperform peers. Analysts and credit rating agencies note the company’s premium pricing power, resilient margins, low leverage, and disciplined capital allocation as key advantages. Thus, TOL is set for a long-term, </a:t>
            </a:r>
            <a:r>
              <a:rPr lang="en-US" sz="1300" b="1" u="sng" dirty="0">
                <a:solidFill>
                  <a:srgbClr val="004876"/>
                </a:solidFill>
              </a:rPr>
              <a:t>Buy.</a:t>
            </a:r>
            <a:br>
              <a:rPr lang="en-US" sz="1300" dirty="0"/>
            </a:br>
            <a:endParaRPr lang="en-US" sz="1300" b="1" dirty="0"/>
          </a:p>
        </p:txBody>
      </p:sp>
      <p:sp>
        <p:nvSpPr>
          <p:cNvPr id="14" name="TextBox 13">
            <a:extLst>
              <a:ext uri="{FF2B5EF4-FFF2-40B4-BE49-F238E27FC236}">
                <a16:creationId xmlns:a16="http://schemas.microsoft.com/office/drawing/2014/main" id="{945EFC3A-989D-28BD-0555-5B47F4E01C8A}"/>
              </a:ext>
            </a:extLst>
          </p:cNvPr>
          <p:cNvSpPr txBox="1"/>
          <p:nvPr/>
        </p:nvSpPr>
        <p:spPr>
          <a:xfrm>
            <a:off x="-6811" y="9666078"/>
            <a:ext cx="6858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eaLnBrk="0" fontAlgn="base" hangingPunct="0">
              <a:spcBef>
                <a:spcPct val="0"/>
              </a:spcBef>
              <a:spcAft>
                <a:spcPct val="0"/>
              </a:spcAft>
              <a:buFontTx/>
              <a:buChar char="•"/>
            </a:pPr>
            <a:r>
              <a:rPr lang="en-US" sz="500" b="1" dirty="0"/>
              <a:t>Sources</a:t>
            </a:r>
            <a:r>
              <a:rPr lang="en-US" sz="500" dirty="0"/>
              <a:t>: </a:t>
            </a:r>
            <a:r>
              <a:rPr lang="en-US" sz="500" b="1" dirty="0"/>
              <a:t>1</a:t>
            </a:r>
            <a:r>
              <a:rPr lang="en-US" sz="500" dirty="0"/>
              <a:t>: </a:t>
            </a:r>
            <a:r>
              <a:rPr lang="en-US" altLang="en-US" sz="500" dirty="0"/>
              <a:t>National Association of Home Builders – </a:t>
            </a:r>
            <a:r>
              <a:rPr lang="en-US" altLang="en-US" sz="500" i="1" dirty="0"/>
              <a:t>2026 Housing Outlook: Ongoing Challenges, Cautious Optimism and Incremental Gains, </a:t>
            </a:r>
            <a:r>
              <a:rPr lang="en-US" altLang="en-US" sz="500" b="1" i="1" dirty="0"/>
              <a:t>2</a:t>
            </a:r>
            <a:r>
              <a:rPr lang="en-US" altLang="en-US" sz="500" i="1" dirty="0"/>
              <a:t>: </a:t>
            </a:r>
            <a:r>
              <a:rPr lang="en-US" altLang="en-US" sz="500" dirty="0"/>
              <a:t>National Association of Home Builders – </a:t>
            </a:r>
            <a:r>
              <a:rPr lang="en-US" altLang="en-US" sz="500" i="1" dirty="0"/>
              <a:t>Impact of Affordability Challenges and Demographic Shifts on Housing Trends in 2026, </a:t>
            </a:r>
            <a:r>
              <a:rPr lang="en-US" altLang="en-US" sz="500" b="1" i="1" dirty="0"/>
              <a:t>3</a:t>
            </a:r>
            <a:r>
              <a:rPr lang="en-US" altLang="en-US" sz="500" i="1" dirty="0"/>
              <a:t>: </a:t>
            </a:r>
            <a:r>
              <a:rPr lang="en-US" altLang="en-US" sz="500" dirty="0"/>
              <a:t>National Association of Home Builders – </a:t>
            </a:r>
            <a:r>
              <a:rPr lang="en-US" altLang="en-US" sz="500" i="1" dirty="0"/>
              <a:t>Builders Identify Key Long-Term Forces Shaping Housing Demand and Industry Health, </a:t>
            </a:r>
            <a:r>
              <a:rPr lang="en-US" altLang="en-US" sz="500" b="1" i="1" dirty="0"/>
              <a:t>4</a:t>
            </a:r>
            <a:r>
              <a:rPr lang="en-US" altLang="en-US" sz="500" i="1" dirty="0"/>
              <a:t>: Forbes – Toll Brothers Company Profile, </a:t>
            </a:r>
            <a:r>
              <a:rPr lang="en-US" altLang="en-US" sz="500" b="1" i="1" dirty="0"/>
              <a:t>5</a:t>
            </a:r>
            <a:r>
              <a:rPr lang="en-US" altLang="en-US" sz="500" i="1" dirty="0"/>
              <a:t>: MacroTrends – Toll Brothers Revenue History, </a:t>
            </a:r>
            <a:r>
              <a:rPr lang="en-US" altLang="en-US" sz="500" b="1" i="1" dirty="0"/>
              <a:t>6</a:t>
            </a:r>
            <a:r>
              <a:rPr lang="en-US" altLang="en-US" sz="500" i="1" dirty="0"/>
              <a:t>: Wikipedia – Toll Brothers Overview, </a:t>
            </a:r>
            <a:r>
              <a:rPr lang="en-US" altLang="en-US" sz="500" b="1" i="1" dirty="0"/>
              <a:t>7</a:t>
            </a:r>
            <a:r>
              <a:rPr lang="en-US" altLang="en-US" sz="500" i="1" dirty="0"/>
              <a:t>: Fitch Ratings – Investing.com, </a:t>
            </a:r>
            <a:r>
              <a:rPr lang="en-US" altLang="en-US" sz="500" b="1" i="1" dirty="0"/>
              <a:t>8</a:t>
            </a:r>
            <a:r>
              <a:rPr lang="en-US" altLang="en-US" sz="500" i="1" dirty="0"/>
              <a:t>: builderonline.com – Vincent Salandro, </a:t>
            </a:r>
            <a:r>
              <a:rPr lang="en-US" altLang="en-US" sz="500" b="1" i="1" dirty="0"/>
              <a:t>9</a:t>
            </a:r>
            <a:r>
              <a:rPr lang="en-US" altLang="en-US" sz="500" i="1" dirty="0"/>
              <a:t>: Investors – tollbrothers.com, </a:t>
            </a:r>
            <a:endParaRPr lang="en-US" altLang="en-US" sz="500" dirty="0"/>
          </a:p>
          <a:p>
            <a:r>
              <a:rPr lang="en-US" sz="500" dirty="0"/>
              <a:t> </a:t>
            </a:r>
          </a:p>
        </p:txBody>
      </p:sp>
      <p:cxnSp>
        <p:nvCxnSpPr>
          <p:cNvPr id="15" name="Straight Connector 14">
            <a:extLst>
              <a:ext uri="{FF2B5EF4-FFF2-40B4-BE49-F238E27FC236}">
                <a16:creationId xmlns:a16="http://schemas.microsoft.com/office/drawing/2014/main" id="{FF58549A-F66F-1066-6D64-666E78391AD4}"/>
              </a:ext>
            </a:extLst>
          </p:cNvPr>
          <p:cNvCxnSpPr>
            <a:cxnSpLocks/>
          </p:cNvCxnSpPr>
          <p:nvPr/>
        </p:nvCxnSpPr>
        <p:spPr>
          <a:xfrm>
            <a:off x="-6811" y="9666078"/>
            <a:ext cx="6868519" cy="0"/>
          </a:xfrm>
          <a:prstGeom prst="line">
            <a:avLst/>
          </a:prstGeom>
          <a:ln w="5715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4A92ED85-5856-1566-9649-8D6D1607A90B}"/>
              </a:ext>
            </a:extLst>
          </p:cNvPr>
          <p:cNvCxnSpPr>
            <a:cxnSpLocks/>
          </p:cNvCxnSpPr>
          <p:nvPr/>
        </p:nvCxnSpPr>
        <p:spPr>
          <a:xfrm>
            <a:off x="145447" y="2935988"/>
            <a:ext cx="2884667" cy="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977E4F4D-FAB6-1CDB-6C1C-5897CC7011E0}"/>
              </a:ext>
            </a:extLst>
          </p:cNvPr>
          <p:cNvSpPr txBox="1"/>
          <p:nvPr/>
        </p:nvSpPr>
        <p:spPr>
          <a:xfrm>
            <a:off x="85211" y="2624659"/>
            <a:ext cx="3129566" cy="923330"/>
          </a:xfrm>
          <a:prstGeom prst="rect">
            <a:avLst/>
          </a:prstGeom>
          <a:noFill/>
        </p:spPr>
        <p:txBody>
          <a:bodyPr wrap="square" rtlCol="0">
            <a:spAutoFit/>
          </a:bodyPr>
          <a:lstStyle/>
          <a:p>
            <a:r>
              <a:rPr lang="en-US" b="1" dirty="0">
                <a:solidFill>
                  <a:srgbClr val="004876"/>
                </a:solidFill>
              </a:rPr>
              <a:t>Industry Overview &amp; Health</a:t>
            </a:r>
          </a:p>
          <a:p>
            <a:endParaRPr lang="en-US" b="1" dirty="0"/>
          </a:p>
          <a:p>
            <a:endParaRPr lang="en-US" b="1" dirty="0"/>
          </a:p>
        </p:txBody>
      </p:sp>
      <p:sp>
        <p:nvSpPr>
          <p:cNvPr id="7" name="TextBox 6">
            <a:extLst>
              <a:ext uri="{FF2B5EF4-FFF2-40B4-BE49-F238E27FC236}">
                <a16:creationId xmlns:a16="http://schemas.microsoft.com/office/drawing/2014/main" id="{9BF20C0A-EC7E-CB33-2E8B-D6F3F20D1753}"/>
              </a:ext>
            </a:extLst>
          </p:cNvPr>
          <p:cNvSpPr txBox="1"/>
          <p:nvPr/>
        </p:nvSpPr>
        <p:spPr>
          <a:xfrm>
            <a:off x="85211" y="1423651"/>
            <a:ext cx="2259080" cy="369332"/>
          </a:xfrm>
          <a:prstGeom prst="rect">
            <a:avLst/>
          </a:prstGeom>
          <a:noFill/>
        </p:spPr>
        <p:txBody>
          <a:bodyPr wrap="none" rtlCol="0">
            <a:spAutoFit/>
          </a:bodyPr>
          <a:lstStyle/>
          <a:p>
            <a:r>
              <a:rPr lang="en-US" b="1" dirty="0">
                <a:solidFill>
                  <a:srgbClr val="004876"/>
                </a:solidFill>
              </a:rPr>
              <a:t>Executive Summary</a:t>
            </a:r>
          </a:p>
        </p:txBody>
      </p:sp>
      <p:cxnSp>
        <p:nvCxnSpPr>
          <p:cNvPr id="8" name="Straight Connector 7">
            <a:extLst>
              <a:ext uri="{FF2B5EF4-FFF2-40B4-BE49-F238E27FC236}">
                <a16:creationId xmlns:a16="http://schemas.microsoft.com/office/drawing/2014/main" id="{1D7BC0FA-6A70-3CD6-740D-11981DBD0BD0}"/>
              </a:ext>
            </a:extLst>
          </p:cNvPr>
          <p:cNvCxnSpPr>
            <a:cxnSpLocks/>
          </p:cNvCxnSpPr>
          <p:nvPr/>
        </p:nvCxnSpPr>
        <p:spPr>
          <a:xfrm>
            <a:off x="145447" y="1739846"/>
            <a:ext cx="2138607" cy="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852B1256-F20A-1EFF-9CAC-868513798836}"/>
              </a:ext>
            </a:extLst>
          </p:cNvPr>
          <p:cNvCxnSpPr>
            <a:cxnSpLocks/>
          </p:cNvCxnSpPr>
          <p:nvPr/>
        </p:nvCxnSpPr>
        <p:spPr>
          <a:xfrm>
            <a:off x="-1702" y="2614107"/>
            <a:ext cx="6873476" cy="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BBB8D772-6CF4-B893-1211-9A96EDD8AFC4}"/>
              </a:ext>
            </a:extLst>
          </p:cNvPr>
          <p:cNvSpPr txBox="1"/>
          <p:nvPr/>
        </p:nvSpPr>
        <p:spPr>
          <a:xfrm>
            <a:off x="98985" y="2935988"/>
            <a:ext cx="3115792" cy="1938992"/>
          </a:xfrm>
          <a:prstGeom prst="rect">
            <a:avLst/>
          </a:prstGeom>
          <a:noFill/>
        </p:spPr>
        <p:txBody>
          <a:bodyPr wrap="square">
            <a:spAutoFit/>
          </a:bodyPr>
          <a:lstStyle/>
          <a:p>
            <a:r>
              <a:rPr lang="en-US" sz="800" dirty="0">
                <a:solidFill>
                  <a:srgbClr val="004876"/>
                </a:solidFill>
              </a:rPr>
              <a:t>The U.S. homebuilding industry is currently facing </a:t>
            </a:r>
            <a:r>
              <a:rPr lang="en-US" sz="800" b="1" dirty="0">
                <a:solidFill>
                  <a:srgbClr val="004876"/>
                </a:solidFill>
              </a:rPr>
              <a:t>moderate cyclical pressure</a:t>
            </a:r>
            <a:r>
              <a:rPr lang="en-US" sz="800" dirty="0">
                <a:solidFill>
                  <a:srgbClr val="004876"/>
                </a:solidFill>
              </a:rPr>
              <a:t>, as </a:t>
            </a:r>
            <a:r>
              <a:rPr lang="en-US" sz="800" b="1" dirty="0">
                <a:solidFill>
                  <a:srgbClr val="004876"/>
                </a:solidFill>
              </a:rPr>
              <a:t>affordability challenges driven by elevated home prices and mortgage rates continue to suppress buyer demand</a:t>
            </a:r>
            <a:r>
              <a:rPr lang="en-US" sz="800" dirty="0">
                <a:solidFill>
                  <a:srgbClr val="004876"/>
                </a:solidFill>
              </a:rPr>
              <a:t>². Builders are also contending with </a:t>
            </a:r>
            <a:r>
              <a:rPr lang="en-US" sz="800" b="1" dirty="0">
                <a:solidFill>
                  <a:srgbClr val="004876"/>
                </a:solidFill>
              </a:rPr>
              <a:t>rising material costs, labor shortages, and policy uncertainty</a:t>
            </a:r>
            <a:r>
              <a:rPr lang="en-US" sz="800" dirty="0">
                <a:solidFill>
                  <a:srgbClr val="004876"/>
                </a:solidFill>
              </a:rPr>
              <a:t>, which are </a:t>
            </a:r>
            <a:r>
              <a:rPr lang="en-US" sz="800" b="1" dirty="0">
                <a:solidFill>
                  <a:srgbClr val="004876"/>
                </a:solidFill>
              </a:rPr>
              <a:t>increasing construction costs and limiting new supply growth</a:t>
            </a:r>
            <a:r>
              <a:rPr lang="en-US" sz="800" dirty="0">
                <a:solidFill>
                  <a:srgbClr val="004876"/>
                </a:solidFill>
              </a:rPr>
              <a:t>¹. Despite these headwinds, the sector remains supported by </a:t>
            </a:r>
            <a:r>
              <a:rPr lang="en-US" sz="800" b="1" dirty="0">
                <a:solidFill>
                  <a:srgbClr val="004876"/>
                </a:solidFill>
              </a:rPr>
              <a:t>a persistent structural housing shortage and long-term demand drivers </a:t>
            </a:r>
            <a:r>
              <a:rPr lang="en-US" sz="800" dirty="0">
                <a:solidFill>
                  <a:srgbClr val="004876"/>
                </a:solidFill>
              </a:rPr>
              <a:t>including demographic trends and an aging housing stock³. Industry sentiment reflects </a:t>
            </a:r>
            <a:r>
              <a:rPr lang="en-US" sz="800" b="1" dirty="0">
                <a:solidFill>
                  <a:srgbClr val="004876"/>
                </a:solidFill>
              </a:rPr>
              <a:t>“cautious optimism,” with expectations that easing financial conditions and slightly lower mortgage rates could gradually improve sales and construction activity</a:t>
            </a:r>
            <a:r>
              <a:rPr lang="en-US" sz="800" dirty="0">
                <a:solidFill>
                  <a:srgbClr val="004876"/>
                </a:solidFill>
              </a:rPr>
              <a:t>¹. Overall, while near-term conditions are constrained, the industry’s </a:t>
            </a:r>
            <a:r>
              <a:rPr lang="en-US" sz="800" b="1" dirty="0">
                <a:solidFill>
                  <a:srgbClr val="004876"/>
                </a:solidFill>
              </a:rPr>
              <a:t>long-term fundamentals remain intact</a:t>
            </a:r>
            <a:r>
              <a:rPr lang="en-US" sz="800" dirty="0">
                <a:solidFill>
                  <a:srgbClr val="004876"/>
                </a:solidFill>
              </a:rPr>
              <a:t>, supported by supply-demand imbalances and evolving housing needs¹.</a:t>
            </a:r>
          </a:p>
        </p:txBody>
      </p:sp>
      <p:sp>
        <p:nvSpPr>
          <p:cNvPr id="30" name="TextBox 29">
            <a:extLst>
              <a:ext uri="{FF2B5EF4-FFF2-40B4-BE49-F238E27FC236}">
                <a16:creationId xmlns:a16="http://schemas.microsoft.com/office/drawing/2014/main" id="{E1B4DBDE-5842-9327-592A-103575B7D1FC}"/>
              </a:ext>
            </a:extLst>
          </p:cNvPr>
          <p:cNvSpPr txBox="1"/>
          <p:nvPr/>
        </p:nvSpPr>
        <p:spPr>
          <a:xfrm>
            <a:off x="3542536" y="2949505"/>
            <a:ext cx="3183792" cy="2677656"/>
          </a:xfrm>
          <a:prstGeom prst="rect">
            <a:avLst/>
          </a:prstGeom>
          <a:noFill/>
        </p:spPr>
        <p:txBody>
          <a:bodyPr wrap="square">
            <a:spAutoFit/>
          </a:bodyPr>
          <a:lstStyle/>
          <a:p>
            <a:r>
              <a:rPr lang="en-US" sz="800" dirty="0">
                <a:solidFill>
                  <a:srgbClr val="004876"/>
                </a:solidFill>
              </a:rPr>
              <a:t>Toll Brothers is a </a:t>
            </a:r>
            <a:r>
              <a:rPr lang="en-US" sz="800" b="1" dirty="0">
                <a:solidFill>
                  <a:srgbClr val="004876"/>
                </a:solidFill>
              </a:rPr>
              <a:t>leading U.S. luxury homebuilder</a:t>
            </a:r>
            <a:r>
              <a:rPr lang="en-US" sz="800" dirty="0">
                <a:solidFill>
                  <a:srgbClr val="004876"/>
                </a:solidFill>
              </a:rPr>
              <a:t> that designs, constructs, markets, and finances residential properties, primarily targeting </a:t>
            </a:r>
            <a:r>
              <a:rPr lang="en-US" sz="800" b="1" dirty="0">
                <a:solidFill>
                  <a:srgbClr val="004876"/>
                </a:solidFill>
              </a:rPr>
              <a:t>affluent, move-up, and active-adult buyers in suburban and urban markets</a:t>
            </a:r>
            <a:r>
              <a:rPr lang="en-US" sz="800" dirty="0">
                <a:solidFill>
                  <a:srgbClr val="004876"/>
                </a:solidFill>
              </a:rPr>
              <a:t>⁴. Founded in 1967 and headquartered in Pennsylvania, the company operates across </a:t>
            </a:r>
            <a:r>
              <a:rPr lang="en-US" sz="800" b="1" dirty="0">
                <a:solidFill>
                  <a:srgbClr val="004876"/>
                </a:solidFill>
              </a:rPr>
              <a:t>24 states and Washington, D.C., with a diversified portfolio that includes single-family homes, townhomes, high-rise condominiums, and rental apartments</a:t>
            </a:r>
            <a:r>
              <a:rPr lang="en-US" sz="800" dirty="0">
                <a:solidFill>
                  <a:srgbClr val="004876"/>
                </a:solidFill>
              </a:rPr>
              <a:t>⁶. Its business is organized into segments such as </a:t>
            </a:r>
            <a:r>
              <a:rPr lang="en-US" sz="800" b="1" dirty="0">
                <a:solidFill>
                  <a:srgbClr val="004876"/>
                </a:solidFill>
              </a:rPr>
              <a:t>Traditional Home Building and City Living</a:t>
            </a:r>
            <a:r>
              <a:rPr lang="en-US" sz="800" dirty="0">
                <a:solidFill>
                  <a:srgbClr val="004876"/>
                </a:solidFill>
              </a:rPr>
              <a:t>, allowing it to serve both suburban luxury communities and urban infill developments⁴. </a:t>
            </a:r>
          </a:p>
          <a:p>
            <a:endParaRPr lang="en-US" sz="400" dirty="0">
              <a:solidFill>
                <a:srgbClr val="004876"/>
              </a:solidFill>
            </a:endParaRPr>
          </a:p>
          <a:p>
            <a:r>
              <a:rPr lang="en-US" sz="800" dirty="0">
                <a:solidFill>
                  <a:srgbClr val="004876"/>
                </a:solidFill>
              </a:rPr>
              <a:t>Toll Brothers also benefits from </a:t>
            </a:r>
            <a:r>
              <a:rPr lang="en-US" sz="800" b="1" dirty="0">
                <a:solidFill>
                  <a:srgbClr val="004876"/>
                </a:solidFill>
              </a:rPr>
              <a:t>ancillary services including mortgage, insurance, and home automation</a:t>
            </a:r>
            <a:r>
              <a:rPr lang="en-US" sz="800" dirty="0">
                <a:solidFill>
                  <a:srgbClr val="004876"/>
                </a:solidFill>
              </a:rPr>
              <a:t>, which enhance margins and customer integration⁶. Financially, the company generates over </a:t>
            </a:r>
            <a:r>
              <a:rPr lang="en-US" sz="800" b="1" dirty="0">
                <a:solidFill>
                  <a:srgbClr val="004876"/>
                </a:solidFill>
              </a:rPr>
              <a:t>$10 billion in annual revenue and has maintained strong profitability, supported by high average selling prices and a focus on the premium housing segment</a:t>
            </a:r>
            <a:r>
              <a:rPr lang="en-US" sz="800" dirty="0">
                <a:solidFill>
                  <a:srgbClr val="004876"/>
                </a:solidFill>
              </a:rPr>
              <a:t>⁵. Overall, Toll Brothers’ </a:t>
            </a:r>
            <a:r>
              <a:rPr lang="en-US" sz="800" b="1" dirty="0">
                <a:solidFill>
                  <a:srgbClr val="004876"/>
                </a:solidFill>
              </a:rPr>
              <a:t>brand positioning in the luxury market, geographic diversification, and vertically integrated operations</a:t>
            </a:r>
            <a:r>
              <a:rPr lang="en-US" sz="800" dirty="0">
                <a:solidFill>
                  <a:srgbClr val="004876"/>
                </a:solidFill>
              </a:rPr>
              <a:t> contribute to its status as one of the largest and most established homebuilders in the United States⁶.</a:t>
            </a:r>
          </a:p>
        </p:txBody>
      </p:sp>
      <p:cxnSp>
        <p:nvCxnSpPr>
          <p:cNvPr id="31" name="Straight Connector 30">
            <a:extLst>
              <a:ext uri="{FF2B5EF4-FFF2-40B4-BE49-F238E27FC236}">
                <a16:creationId xmlns:a16="http://schemas.microsoft.com/office/drawing/2014/main" id="{F1A040E1-5863-87B3-4FA6-85E7DCBC2D81}"/>
              </a:ext>
            </a:extLst>
          </p:cNvPr>
          <p:cNvCxnSpPr>
            <a:cxnSpLocks/>
          </p:cNvCxnSpPr>
          <p:nvPr/>
        </p:nvCxnSpPr>
        <p:spPr>
          <a:xfrm>
            <a:off x="3602772" y="2935988"/>
            <a:ext cx="2183431" cy="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BDD0782A-49AB-B326-1199-61F20FD239DC}"/>
              </a:ext>
            </a:extLst>
          </p:cNvPr>
          <p:cNvSpPr txBox="1"/>
          <p:nvPr/>
        </p:nvSpPr>
        <p:spPr>
          <a:xfrm>
            <a:off x="3542535" y="2624659"/>
            <a:ext cx="2768323" cy="923330"/>
          </a:xfrm>
          <a:prstGeom prst="rect">
            <a:avLst/>
          </a:prstGeom>
          <a:noFill/>
        </p:spPr>
        <p:txBody>
          <a:bodyPr wrap="square" rtlCol="0">
            <a:spAutoFit/>
          </a:bodyPr>
          <a:lstStyle/>
          <a:p>
            <a:r>
              <a:rPr lang="en-US" b="1" dirty="0">
                <a:solidFill>
                  <a:srgbClr val="004876"/>
                </a:solidFill>
              </a:rPr>
              <a:t>Company Overview</a:t>
            </a:r>
          </a:p>
          <a:p>
            <a:endParaRPr lang="en-US" b="1" dirty="0"/>
          </a:p>
          <a:p>
            <a:endParaRPr lang="en-US" b="1" dirty="0"/>
          </a:p>
        </p:txBody>
      </p:sp>
      <p:cxnSp>
        <p:nvCxnSpPr>
          <p:cNvPr id="33" name="Straight Connector 32">
            <a:extLst>
              <a:ext uri="{FF2B5EF4-FFF2-40B4-BE49-F238E27FC236}">
                <a16:creationId xmlns:a16="http://schemas.microsoft.com/office/drawing/2014/main" id="{AAABE524-07C2-7263-C359-DCE1BE00928C}"/>
              </a:ext>
            </a:extLst>
          </p:cNvPr>
          <p:cNvCxnSpPr>
            <a:cxnSpLocks/>
          </p:cNvCxnSpPr>
          <p:nvPr/>
        </p:nvCxnSpPr>
        <p:spPr>
          <a:xfrm>
            <a:off x="169965" y="7772965"/>
            <a:ext cx="1511380" cy="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4A27C825-B2D6-E48B-241C-229101E7E871}"/>
              </a:ext>
            </a:extLst>
          </p:cNvPr>
          <p:cNvSpPr txBox="1"/>
          <p:nvPr/>
        </p:nvSpPr>
        <p:spPr>
          <a:xfrm>
            <a:off x="104316" y="7365414"/>
            <a:ext cx="3027158" cy="2831544"/>
          </a:xfrm>
          <a:prstGeom prst="rect">
            <a:avLst/>
          </a:prstGeom>
          <a:noFill/>
        </p:spPr>
        <p:txBody>
          <a:bodyPr wrap="square" rtlCol="0">
            <a:spAutoFit/>
          </a:bodyPr>
          <a:lstStyle/>
          <a:p>
            <a:r>
              <a:rPr lang="en-US" b="1" dirty="0">
                <a:solidFill>
                  <a:srgbClr val="004876"/>
                </a:solidFill>
              </a:rPr>
              <a:t>Pricing Power</a:t>
            </a:r>
          </a:p>
          <a:p>
            <a:endParaRPr lang="en-US" sz="200" dirty="0">
              <a:solidFill>
                <a:srgbClr val="004876"/>
              </a:solidFill>
            </a:endParaRPr>
          </a:p>
          <a:p>
            <a:r>
              <a:rPr lang="en-US" sz="800" dirty="0">
                <a:solidFill>
                  <a:srgbClr val="004876"/>
                </a:solidFill>
              </a:rPr>
              <a:t>Toll Brothers’ emphasis on the high-end market segment gives it a notable competitive edge. Fitch Ratings highlights that Toll is the </a:t>
            </a:r>
            <a:r>
              <a:rPr lang="en-US" sz="800" b="1" dirty="0">
                <a:solidFill>
                  <a:srgbClr val="004876"/>
                </a:solidFill>
              </a:rPr>
              <a:t>“leading public builder of luxury homes,”</a:t>
            </a:r>
            <a:r>
              <a:rPr lang="en-US" sz="800" dirty="0">
                <a:solidFill>
                  <a:srgbClr val="004876"/>
                </a:solidFill>
              </a:rPr>
              <a:t> which yields one of the industry’s </a:t>
            </a:r>
            <a:r>
              <a:rPr lang="en-US" sz="800" b="1" dirty="0">
                <a:solidFill>
                  <a:srgbClr val="004876"/>
                </a:solidFill>
              </a:rPr>
              <a:t>highest EBITDA margins</a:t>
            </a:r>
            <a:r>
              <a:rPr lang="en-US" sz="800" dirty="0">
                <a:solidFill>
                  <a:srgbClr val="004876"/>
                </a:solidFill>
              </a:rPr>
              <a:t>.</a:t>
            </a:r>
            <a:r>
              <a:rPr lang="en-US" sz="800" baseline="30000" dirty="0">
                <a:solidFill>
                  <a:srgbClr val="004876"/>
                </a:solidFill>
              </a:rPr>
              <a:t>7</a:t>
            </a:r>
            <a:r>
              <a:rPr lang="en-US" sz="800" dirty="0">
                <a:solidFill>
                  <a:srgbClr val="004876"/>
                </a:solidFill>
              </a:rPr>
              <a:t> Its buyers tend to be affluent and well-capitalized – for example, about 26% of Toll’s buyers paid all cash and ~70% are move-up/down clients with substantial home equity, making them less sensitive to rate shocks.</a:t>
            </a:r>
            <a:r>
              <a:rPr lang="en-US" sz="800" baseline="30000" dirty="0">
                <a:solidFill>
                  <a:srgbClr val="004876"/>
                </a:solidFill>
              </a:rPr>
              <a:t>8</a:t>
            </a:r>
            <a:r>
              <a:rPr lang="en-US" sz="800" dirty="0">
                <a:solidFill>
                  <a:srgbClr val="004876"/>
                </a:solidFill>
              </a:rPr>
              <a:t> This translates into </a:t>
            </a:r>
            <a:r>
              <a:rPr lang="en-US" sz="800" b="1" dirty="0">
                <a:solidFill>
                  <a:srgbClr val="004876"/>
                </a:solidFill>
              </a:rPr>
              <a:t>strong pricing power and low cancellation rates</a:t>
            </a:r>
            <a:r>
              <a:rPr lang="en-US" sz="800" dirty="0">
                <a:solidFill>
                  <a:srgbClr val="004876"/>
                </a:solidFill>
              </a:rPr>
              <a:t>: Fitch explicitly notes Toll’s customers make large non-refundable deposits and have the lowest cancellation rates among peers.</a:t>
            </a:r>
            <a:r>
              <a:rPr lang="en-US" sz="800" baseline="30000" dirty="0">
                <a:solidFill>
                  <a:srgbClr val="004876"/>
                </a:solidFill>
              </a:rPr>
              <a:t>7</a:t>
            </a:r>
            <a:r>
              <a:rPr lang="en-US" sz="800" dirty="0">
                <a:solidFill>
                  <a:srgbClr val="004876"/>
                </a:solidFill>
              </a:rPr>
              <a:t> In short, Toll’s luxury-brand positioning and clientele provide resilience in a down cycle that many broader-market builders lack.</a:t>
            </a:r>
          </a:p>
          <a:p>
            <a:br>
              <a:rPr lang="en-US" dirty="0"/>
            </a:br>
            <a:endParaRPr lang="en-US" b="1" dirty="0"/>
          </a:p>
          <a:p>
            <a:endParaRPr lang="en-US" b="1" dirty="0"/>
          </a:p>
        </p:txBody>
      </p:sp>
      <p:cxnSp>
        <p:nvCxnSpPr>
          <p:cNvPr id="36" name="Straight Connector 35">
            <a:extLst>
              <a:ext uri="{FF2B5EF4-FFF2-40B4-BE49-F238E27FC236}">
                <a16:creationId xmlns:a16="http://schemas.microsoft.com/office/drawing/2014/main" id="{1C5E391B-F8F9-CDD3-8313-F90A55CB0A5F}"/>
              </a:ext>
            </a:extLst>
          </p:cNvPr>
          <p:cNvCxnSpPr>
            <a:cxnSpLocks/>
          </p:cNvCxnSpPr>
          <p:nvPr/>
        </p:nvCxnSpPr>
        <p:spPr>
          <a:xfrm>
            <a:off x="169964" y="5275978"/>
            <a:ext cx="2388125" cy="0"/>
          </a:xfrm>
          <a:prstGeom prst="line">
            <a:avLst/>
          </a:prstGeom>
          <a:ln>
            <a:solidFill>
              <a:schemeClr val="bg1">
                <a:lumMod val="75000"/>
              </a:schemeClr>
            </a:solidFill>
          </a:ln>
        </p:spPr>
        <p:style>
          <a:lnRef idx="2">
            <a:schemeClr val="dk1"/>
          </a:lnRef>
          <a:fillRef idx="0">
            <a:schemeClr val="dk1"/>
          </a:fillRef>
          <a:effectRef idx="1">
            <a:schemeClr val="dk1"/>
          </a:effectRef>
          <a:fontRef idx="minor">
            <a:schemeClr val="tx1"/>
          </a:fontRef>
        </p:style>
      </p:cxnSp>
      <p:sp>
        <p:nvSpPr>
          <p:cNvPr id="37" name="TextBox 36">
            <a:extLst>
              <a:ext uri="{FF2B5EF4-FFF2-40B4-BE49-F238E27FC236}">
                <a16:creationId xmlns:a16="http://schemas.microsoft.com/office/drawing/2014/main" id="{485ED2FE-0432-263D-0820-697E2B9E70A8}"/>
              </a:ext>
            </a:extLst>
          </p:cNvPr>
          <p:cNvSpPr txBox="1"/>
          <p:nvPr/>
        </p:nvSpPr>
        <p:spPr>
          <a:xfrm>
            <a:off x="109728" y="4964649"/>
            <a:ext cx="3083106" cy="2646878"/>
          </a:xfrm>
          <a:prstGeom prst="rect">
            <a:avLst/>
          </a:prstGeom>
          <a:noFill/>
        </p:spPr>
        <p:txBody>
          <a:bodyPr wrap="square" rtlCol="0">
            <a:spAutoFit/>
          </a:bodyPr>
          <a:lstStyle/>
          <a:p>
            <a:r>
              <a:rPr lang="en-US" b="1" dirty="0">
                <a:solidFill>
                  <a:srgbClr val="004876"/>
                </a:solidFill>
              </a:rPr>
              <a:t>Healthy Balance Sheet </a:t>
            </a:r>
          </a:p>
          <a:p>
            <a:endParaRPr lang="en-US" sz="200" dirty="0">
              <a:solidFill>
                <a:srgbClr val="004876"/>
              </a:solidFill>
            </a:endParaRPr>
          </a:p>
          <a:p>
            <a:r>
              <a:rPr lang="en-US" sz="800" dirty="0">
                <a:solidFill>
                  <a:srgbClr val="004876"/>
                </a:solidFill>
              </a:rPr>
              <a:t>Toll Brothers benefits from a very solid balance sheet and disciplined growth strategy. Fitch upgraded Toll’s credit rating in late 2025, citing its </a:t>
            </a:r>
            <a:r>
              <a:rPr lang="en-US" sz="800" b="1" dirty="0">
                <a:solidFill>
                  <a:srgbClr val="004876"/>
                </a:solidFill>
              </a:rPr>
              <a:t>strong balance sheet and land-light strategy</a:t>
            </a:r>
            <a:r>
              <a:rPr lang="en-US" sz="800" dirty="0">
                <a:solidFill>
                  <a:srgbClr val="004876"/>
                </a:solidFill>
              </a:rPr>
              <a:t>, with net debt around 17–18% of capitalization and EBITDA leverage near 1.3x.</a:t>
            </a:r>
            <a:r>
              <a:rPr lang="en-US" sz="800" baseline="30000" dirty="0">
                <a:solidFill>
                  <a:srgbClr val="004876"/>
                </a:solidFill>
              </a:rPr>
              <a:t>7</a:t>
            </a:r>
            <a:r>
              <a:rPr lang="en-US" sz="800" dirty="0">
                <a:solidFill>
                  <a:srgbClr val="004876"/>
                </a:solidFill>
              </a:rPr>
              <a:t> Management reports record deliveries and cash flow in FY2025 ($1.1B operating cash flow) and a $750M return to shareholders via buybacks/dividends.</a:t>
            </a:r>
            <a:r>
              <a:rPr lang="en-US" sz="800" baseline="30000" dirty="0">
                <a:solidFill>
                  <a:srgbClr val="004876"/>
                </a:solidFill>
              </a:rPr>
              <a:t>9</a:t>
            </a:r>
            <a:r>
              <a:rPr lang="en-US" sz="800" dirty="0">
                <a:solidFill>
                  <a:srgbClr val="004876"/>
                </a:solidFill>
              </a:rPr>
              <a:t> The company controls a large land pipeline (over 76,000 lots) yet has exited non-core multifamily projects, reflecting capital efficiency.</a:t>
            </a:r>
            <a:r>
              <a:rPr lang="en-US" sz="800" baseline="30000" dirty="0">
                <a:solidFill>
                  <a:srgbClr val="004876"/>
                </a:solidFill>
              </a:rPr>
              <a:t>9</a:t>
            </a:r>
            <a:r>
              <a:rPr lang="en-US" sz="800" dirty="0">
                <a:solidFill>
                  <a:srgbClr val="004876"/>
                </a:solidFill>
              </a:rPr>
              <a:t> </a:t>
            </a:r>
          </a:p>
          <a:p>
            <a:endParaRPr lang="en-US" sz="400" dirty="0">
              <a:solidFill>
                <a:srgbClr val="004876"/>
              </a:solidFill>
            </a:endParaRPr>
          </a:p>
          <a:p>
            <a:r>
              <a:rPr lang="en-US" sz="800" dirty="0">
                <a:solidFill>
                  <a:srgbClr val="004876"/>
                </a:solidFill>
              </a:rPr>
              <a:t>CEO Yearley notes 8–10% planned growth in community count for FY2026 and emphasizes Toll’s </a:t>
            </a:r>
            <a:r>
              <a:rPr lang="en-US" sz="800" b="1" dirty="0">
                <a:solidFill>
                  <a:srgbClr val="004876"/>
                </a:solidFill>
              </a:rPr>
              <a:t>“solid balance sheet, healthy liquidity and premier land holdings”</a:t>
            </a:r>
            <a:r>
              <a:rPr lang="en-US" sz="800" baseline="30000" dirty="0">
                <a:solidFill>
                  <a:srgbClr val="004876"/>
                </a:solidFill>
              </a:rPr>
              <a:t>9</a:t>
            </a:r>
            <a:r>
              <a:rPr lang="en-US" sz="800" dirty="0">
                <a:solidFill>
                  <a:srgbClr val="004876"/>
                </a:solidFill>
              </a:rPr>
              <a:t> as a platform for future growth. This financial strength and strategic discipline, including low leverage, ample liquidity, and share repurchases, position Toll Brothers to maintain profitability and grow.</a:t>
            </a:r>
            <a:endParaRPr lang="en-US" sz="800" b="1" dirty="0">
              <a:solidFill>
                <a:srgbClr val="004876"/>
              </a:solidFill>
            </a:endParaRPr>
          </a:p>
          <a:p>
            <a:endParaRPr lang="en-US" b="1" dirty="0"/>
          </a:p>
        </p:txBody>
      </p:sp>
      <p:sp>
        <p:nvSpPr>
          <p:cNvPr id="2" name="TextBox 1">
            <a:extLst>
              <a:ext uri="{FF2B5EF4-FFF2-40B4-BE49-F238E27FC236}">
                <a16:creationId xmlns:a16="http://schemas.microsoft.com/office/drawing/2014/main" id="{318D80CA-8E14-7100-D330-4056D8B6EC79}"/>
              </a:ext>
            </a:extLst>
          </p:cNvPr>
          <p:cNvSpPr txBox="1"/>
          <p:nvPr/>
        </p:nvSpPr>
        <p:spPr>
          <a:xfrm>
            <a:off x="262934" y="1069829"/>
            <a:ext cx="6947452" cy="307777"/>
          </a:xfrm>
          <a:prstGeom prst="rect">
            <a:avLst/>
          </a:prstGeom>
          <a:noFill/>
        </p:spPr>
        <p:txBody>
          <a:bodyPr wrap="square" rtlCol="0">
            <a:spAutoFit/>
          </a:bodyPr>
          <a:lstStyle/>
          <a:p>
            <a:r>
              <a:rPr lang="en-US" sz="1400" dirty="0">
                <a:solidFill>
                  <a:srgbClr val="004876"/>
                </a:solidFill>
              </a:rPr>
              <a:t>Price: 137.04         MKT CAP: 13B        Price Target: 178.67        Implied Upside: 31.6%</a:t>
            </a:r>
          </a:p>
        </p:txBody>
      </p:sp>
      <p:pic>
        <p:nvPicPr>
          <p:cNvPr id="28" name="Picture 27">
            <a:extLst>
              <a:ext uri="{FF2B5EF4-FFF2-40B4-BE49-F238E27FC236}">
                <a16:creationId xmlns:a16="http://schemas.microsoft.com/office/drawing/2014/main" id="{622C3768-83D6-5E62-8537-C3DC16895A43}"/>
              </a:ext>
            </a:extLst>
          </p:cNvPr>
          <p:cNvPicPr>
            <a:picLocks noChangeAspect="1"/>
          </p:cNvPicPr>
          <p:nvPr/>
        </p:nvPicPr>
        <p:blipFill>
          <a:blip r:embed="rId2"/>
          <a:stretch>
            <a:fillRect/>
          </a:stretch>
        </p:blipFill>
        <p:spPr>
          <a:xfrm>
            <a:off x="3299439" y="7715478"/>
            <a:ext cx="3431946" cy="1685110"/>
          </a:xfrm>
          <a:prstGeom prst="rect">
            <a:avLst/>
          </a:prstGeom>
        </p:spPr>
      </p:pic>
      <p:pic>
        <p:nvPicPr>
          <p:cNvPr id="35" name="Picture 34">
            <a:extLst>
              <a:ext uri="{FF2B5EF4-FFF2-40B4-BE49-F238E27FC236}">
                <a16:creationId xmlns:a16="http://schemas.microsoft.com/office/drawing/2014/main" id="{FDBC34D4-F110-346D-6A98-C5CE7B72A0A3}"/>
              </a:ext>
            </a:extLst>
          </p:cNvPr>
          <p:cNvPicPr>
            <a:picLocks noChangeAspect="1"/>
          </p:cNvPicPr>
          <p:nvPr/>
        </p:nvPicPr>
        <p:blipFill>
          <a:blip r:embed="rId3"/>
          <a:stretch>
            <a:fillRect/>
          </a:stretch>
        </p:blipFill>
        <p:spPr>
          <a:xfrm>
            <a:off x="3207966" y="5804759"/>
            <a:ext cx="1808274" cy="1685110"/>
          </a:xfrm>
          <a:prstGeom prst="rect">
            <a:avLst/>
          </a:prstGeom>
        </p:spPr>
      </p:pic>
      <p:pic>
        <p:nvPicPr>
          <p:cNvPr id="39" name="Picture 38">
            <a:extLst>
              <a:ext uri="{FF2B5EF4-FFF2-40B4-BE49-F238E27FC236}">
                <a16:creationId xmlns:a16="http://schemas.microsoft.com/office/drawing/2014/main" id="{E22360F0-E3C2-1AF0-FB04-AB527C07E9C6}"/>
              </a:ext>
            </a:extLst>
          </p:cNvPr>
          <p:cNvPicPr>
            <a:picLocks noChangeAspect="1"/>
          </p:cNvPicPr>
          <p:nvPr/>
        </p:nvPicPr>
        <p:blipFill>
          <a:blip r:embed="rId4"/>
          <a:srcRect l="4981"/>
          <a:stretch>
            <a:fillRect/>
          </a:stretch>
        </p:blipFill>
        <p:spPr>
          <a:xfrm>
            <a:off x="5164671" y="5802999"/>
            <a:ext cx="1642885" cy="1591961"/>
          </a:xfrm>
          <a:prstGeom prst="rect">
            <a:avLst/>
          </a:prstGeom>
        </p:spPr>
      </p:pic>
      <p:pic>
        <p:nvPicPr>
          <p:cNvPr id="40" name="Picture 39">
            <a:extLst>
              <a:ext uri="{FF2B5EF4-FFF2-40B4-BE49-F238E27FC236}">
                <a16:creationId xmlns:a16="http://schemas.microsoft.com/office/drawing/2014/main" id="{8C7726E7-FF6C-1BDA-20E7-137F8B66A18A}"/>
              </a:ext>
            </a:extLst>
          </p:cNvPr>
          <p:cNvPicPr>
            <a:picLocks noChangeAspect="1"/>
          </p:cNvPicPr>
          <p:nvPr/>
        </p:nvPicPr>
        <p:blipFill>
          <a:blip r:embed="rId4"/>
          <a:srcRect l="4981" t="20752"/>
          <a:stretch>
            <a:fillRect/>
          </a:stretch>
        </p:blipFill>
        <p:spPr>
          <a:xfrm>
            <a:off x="5032562" y="6168704"/>
            <a:ext cx="1818627" cy="1396549"/>
          </a:xfrm>
          <a:prstGeom prst="rect">
            <a:avLst/>
          </a:prstGeom>
        </p:spPr>
      </p:pic>
      <p:sp>
        <p:nvSpPr>
          <p:cNvPr id="41" name="TextBox 40">
            <a:extLst>
              <a:ext uri="{FF2B5EF4-FFF2-40B4-BE49-F238E27FC236}">
                <a16:creationId xmlns:a16="http://schemas.microsoft.com/office/drawing/2014/main" id="{A03F976D-5874-A404-7CCF-C5D7811F48D6}"/>
              </a:ext>
            </a:extLst>
          </p:cNvPr>
          <p:cNvSpPr txBox="1"/>
          <p:nvPr/>
        </p:nvSpPr>
        <p:spPr>
          <a:xfrm>
            <a:off x="4597640" y="5767020"/>
            <a:ext cx="211917" cy="153888"/>
          </a:xfrm>
          <a:prstGeom prst="rect">
            <a:avLst/>
          </a:prstGeom>
          <a:noFill/>
        </p:spPr>
        <p:txBody>
          <a:bodyPr wrap="none" rtlCol="0">
            <a:spAutoFit/>
          </a:bodyPr>
          <a:lstStyle/>
          <a:p>
            <a:r>
              <a:rPr lang="en-US" sz="400" dirty="0"/>
              <a:t>9</a:t>
            </a:r>
          </a:p>
        </p:txBody>
      </p:sp>
      <p:sp>
        <p:nvSpPr>
          <p:cNvPr id="42" name="TextBox 41">
            <a:extLst>
              <a:ext uri="{FF2B5EF4-FFF2-40B4-BE49-F238E27FC236}">
                <a16:creationId xmlns:a16="http://schemas.microsoft.com/office/drawing/2014/main" id="{5B6F1479-EB64-50FF-731F-4678E69CCD2E}"/>
              </a:ext>
            </a:extLst>
          </p:cNvPr>
          <p:cNvSpPr txBox="1"/>
          <p:nvPr/>
        </p:nvSpPr>
        <p:spPr>
          <a:xfrm>
            <a:off x="5820901" y="7657478"/>
            <a:ext cx="211917" cy="153888"/>
          </a:xfrm>
          <a:prstGeom prst="rect">
            <a:avLst/>
          </a:prstGeom>
          <a:noFill/>
        </p:spPr>
        <p:txBody>
          <a:bodyPr wrap="none" rtlCol="0">
            <a:spAutoFit/>
          </a:bodyPr>
          <a:lstStyle/>
          <a:p>
            <a:r>
              <a:rPr lang="en-US" sz="400" dirty="0"/>
              <a:t>9</a:t>
            </a:r>
          </a:p>
        </p:txBody>
      </p:sp>
      <p:sp>
        <p:nvSpPr>
          <p:cNvPr id="43" name="TextBox 42">
            <a:extLst>
              <a:ext uri="{FF2B5EF4-FFF2-40B4-BE49-F238E27FC236}">
                <a16:creationId xmlns:a16="http://schemas.microsoft.com/office/drawing/2014/main" id="{4D9ED1A6-3C5B-308E-28A6-09144275729B}"/>
              </a:ext>
            </a:extLst>
          </p:cNvPr>
          <p:cNvSpPr txBox="1"/>
          <p:nvPr/>
        </p:nvSpPr>
        <p:spPr>
          <a:xfrm>
            <a:off x="5926860" y="5769019"/>
            <a:ext cx="211917" cy="153888"/>
          </a:xfrm>
          <a:prstGeom prst="rect">
            <a:avLst/>
          </a:prstGeom>
          <a:noFill/>
        </p:spPr>
        <p:txBody>
          <a:bodyPr wrap="none" rtlCol="0">
            <a:spAutoFit/>
          </a:bodyPr>
          <a:lstStyle/>
          <a:p>
            <a:r>
              <a:rPr lang="en-US" sz="400" dirty="0"/>
              <a:t>9</a:t>
            </a:r>
          </a:p>
        </p:txBody>
      </p:sp>
    </p:spTree>
    <p:extLst>
      <p:ext uri="{BB962C8B-B14F-4D97-AF65-F5344CB8AC3E}">
        <p14:creationId xmlns:p14="http://schemas.microsoft.com/office/powerpoint/2010/main" val="3697730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D700-2A6A-998D-5FF3-46C134388D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D08A6E-375C-520C-3A4D-7AAF7152CBD0}"/>
              </a:ext>
            </a:extLst>
          </p:cNvPr>
          <p:cNvSpPr>
            <a:spLocks noGrp="1"/>
          </p:cNvSpPr>
          <p:nvPr>
            <p:ph type="ctrTitle"/>
          </p:nvPr>
        </p:nvSpPr>
        <p:spPr>
          <a:xfrm>
            <a:off x="-15476" y="192267"/>
            <a:ext cx="6947452" cy="664824"/>
          </a:xfrm>
        </p:spPr>
        <p:txBody>
          <a:bodyPr>
            <a:normAutofit/>
          </a:bodyPr>
          <a:lstStyle/>
          <a:p>
            <a:pPr algn="l"/>
            <a:r>
              <a:rPr lang="en-US" sz="3200" b="1" dirty="0">
                <a:solidFill>
                  <a:srgbClr val="007DB8"/>
                </a:solidFill>
              </a:rPr>
              <a:t>Dell Technologies (NYSE: DELL)</a:t>
            </a:r>
            <a:endParaRPr lang="en-US" sz="3200" b="1" dirty="0">
              <a:solidFill>
                <a:srgbClr val="00B0F0"/>
              </a:solidFill>
            </a:endParaRPr>
          </a:p>
        </p:txBody>
      </p:sp>
      <p:sp>
        <p:nvSpPr>
          <p:cNvPr id="6" name="Rectangle 5">
            <a:extLst>
              <a:ext uri="{FF2B5EF4-FFF2-40B4-BE49-F238E27FC236}">
                <a16:creationId xmlns:a16="http://schemas.microsoft.com/office/drawing/2014/main" id="{D599C9FD-7A06-2B38-BA3F-A560F51AC5AE}"/>
              </a:ext>
            </a:extLst>
          </p:cNvPr>
          <p:cNvSpPr/>
          <p:nvPr/>
        </p:nvSpPr>
        <p:spPr>
          <a:xfrm>
            <a:off x="0" y="991098"/>
            <a:ext cx="6858000" cy="42529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9CC2DDB-8A51-9286-9F2E-BDBDF3B0AB3B}"/>
              </a:ext>
            </a:extLst>
          </p:cNvPr>
          <p:cNvSpPr txBox="1"/>
          <p:nvPr/>
        </p:nvSpPr>
        <p:spPr>
          <a:xfrm>
            <a:off x="85211" y="1765883"/>
            <a:ext cx="6718872" cy="738664"/>
          </a:xfrm>
          <a:prstGeom prst="rect">
            <a:avLst/>
          </a:prstGeom>
          <a:noFill/>
          <a:ln>
            <a:noFill/>
          </a:ln>
        </p:spPr>
        <p:txBody>
          <a:bodyPr wrap="square" lIns="91440" tIns="45720" rIns="91440" bIns="45720" rtlCol="0" anchor="t">
            <a:spAutoFit/>
          </a:bodyPr>
          <a:lstStyle/>
          <a:p>
            <a:r>
              <a:rPr lang="en-US" sz="1400" b="1" dirty="0"/>
              <a:t>Dell is positioned to benefit from renewed demand as COVID-era desktops and laptops reach the end of their lifecycle. Also, with accelerating B2B partnerships and strong cash flow, supporting shareholder returns.</a:t>
            </a:r>
            <a:endParaRPr lang="en-US" sz="1400" dirty="0">
              <a:solidFill>
                <a:schemeClr val="bg1"/>
              </a:solidFill>
            </a:endParaRPr>
          </a:p>
        </p:txBody>
      </p:sp>
      <p:sp>
        <p:nvSpPr>
          <p:cNvPr id="14" name="TextBox 13">
            <a:extLst>
              <a:ext uri="{FF2B5EF4-FFF2-40B4-BE49-F238E27FC236}">
                <a16:creationId xmlns:a16="http://schemas.microsoft.com/office/drawing/2014/main" id="{ADB49F2B-1221-5039-C52D-E88222DD2CF2}"/>
              </a:ext>
            </a:extLst>
          </p:cNvPr>
          <p:cNvSpPr txBox="1"/>
          <p:nvPr/>
        </p:nvSpPr>
        <p:spPr>
          <a:xfrm>
            <a:off x="-24173" y="9604523"/>
            <a:ext cx="6858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 b="1" dirty="0"/>
              <a:t>Sources</a:t>
            </a:r>
            <a:r>
              <a:rPr lang="en-US" sz="500" dirty="0"/>
              <a:t>: </a:t>
            </a:r>
            <a:r>
              <a:rPr lang="en-US" altLang="en-US" sz="500" b="1" i="1" dirty="0"/>
              <a:t>1</a:t>
            </a:r>
            <a:r>
              <a:rPr lang="en-US" altLang="en-US" sz="500" i="1" dirty="0"/>
              <a:t>: </a:t>
            </a:r>
            <a:r>
              <a:rPr lang="en-US" sz="500" b="1" dirty="0"/>
              <a:t>1</a:t>
            </a:r>
            <a:r>
              <a:rPr lang="en-US" sz="500" dirty="0"/>
              <a:t> www.businessinsider.com/guides/tech/how-long-do-laptops-last#:~:text=*%20An%20average%20laptop%20can%20last%20four,its%20performance%20and%20upgrading%20parts%20when%20possible, </a:t>
            </a:r>
            <a:r>
              <a:rPr lang="en-US" sz="500" b="1" dirty="0"/>
              <a:t>2</a:t>
            </a:r>
            <a:r>
              <a:rPr lang="en-US" sz="500" dirty="0"/>
              <a:t> finance.yahoo.com/quote/DELL/, </a:t>
            </a:r>
            <a:r>
              <a:rPr lang="en-US" sz="500" b="1" dirty="0"/>
              <a:t>3</a:t>
            </a:r>
            <a:r>
              <a:rPr lang="en-US" sz="500" dirty="0"/>
              <a:t> www.marketwatch.com/story/the-pandemic-pc-boom-gave-personal-computers-their-biggest-year-in-nearly-a-decade-11642013463, </a:t>
            </a:r>
            <a:r>
              <a:rPr lang="en-US" sz="500" b="1" dirty="0"/>
              <a:t>4</a:t>
            </a:r>
            <a:r>
              <a:rPr lang="en-US" sz="500" dirty="0"/>
              <a:t> www.nm.org/healthbeat/medical-advances/new-therapies-and-drug-trials/covid-19-pandemic-timeline, </a:t>
            </a:r>
            <a:r>
              <a:rPr lang="en-US" sz="500" b="1" dirty="0"/>
              <a:t>5</a:t>
            </a:r>
            <a:r>
              <a:rPr lang="en-US" sz="500" dirty="0"/>
              <a:t> www.nasdaq.com/articles/why-dell-technologies-stock-fell-48.7-in-november#:~:text=What%20happened,Image%20source:%20Getty%20Images, </a:t>
            </a:r>
            <a:r>
              <a:rPr lang="en-US" sz="500" b="1" dirty="0"/>
              <a:t>6</a:t>
            </a:r>
            <a:r>
              <a:rPr lang="en-US" sz="500" dirty="0"/>
              <a:t> investors.delltechnologies.com/why-invest, </a:t>
            </a:r>
            <a:r>
              <a:rPr lang="en-US" sz="500" b="1" dirty="0"/>
              <a:t>7</a:t>
            </a:r>
            <a:r>
              <a:rPr lang="en-US" sz="500" dirty="0"/>
              <a:t> companiesmarketcap.com/dell/</a:t>
            </a:r>
            <a:r>
              <a:rPr lang="en-US" sz="500" dirty="0" err="1"/>
              <a:t>marketcap</a:t>
            </a:r>
            <a:r>
              <a:rPr lang="en-US" sz="500" dirty="0"/>
              <a:t>/, </a:t>
            </a:r>
            <a:r>
              <a:rPr lang="en-US" sz="500" b="1" dirty="0"/>
              <a:t>8</a:t>
            </a:r>
            <a:r>
              <a:rPr lang="en-US" sz="500" dirty="0"/>
              <a:t> finance.yahoo.com, </a:t>
            </a:r>
            <a:r>
              <a:rPr lang="en-US" sz="500" b="1" dirty="0"/>
              <a:t>9</a:t>
            </a:r>
            <a:r>
              <a:rPr lang="en-US" sz="500" dirty="0"/>
              <a:t> investors.delltechnologies.com</a:t>
            </a:r>
            <a:endParaRPr lang="en-US" dirty="0"/>
          </a:p>
        </p:txBody>
      </p:sp>
      <p:cxnSp>
        <p:nvCxnSpPr>
          <p:cNvPr id="15" name="Straight Connector 14">
            <a:extLst>
              <a:ext uri="{FF2B5EF4-FFF2-40B4-BE49-F238E27FC236}">
                <a16:creationId xmlns:a16="http://schemas.microsoft.com/office/drawing/2014/main" id="{8556492A-7E66-95EB-365C-71CBE1E3E38D}"/>
              </a:ext>
            </a:extLst>
          </p:cNvPr>
          <p:cNvCxnSpPr>
            <a:cxnSpLocks/>
          </p:cNvCxnSpPr>
          <p:nvPr/>
        </p:nvCxnSpPr>
        <p:spPr>
          <a:xfrm>
            <a:off x="-53423" y="9611786"/>
            <a:ext cx="6868519" cy="0"/>
          </a:xfrm>
          <a:prstGeom prst="line">
            <a:avLst/>
          </a:prstGeom>
          <a:ln w="57150">
            <a:solidFill>
              <a:schemeClr val="bg1">
                <a:lumMod val="85000"/>
              </a:schemeClr>
            </a:solidFill>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02E2829C-B377-20BC-580C-65AC7D428A75}"/>
              </a:ext>
            </a:extLst>
          </p:cNvPr>
          <p:cNvCxnSpPr>
            <a:cxnSpLocks/>
          </p:cNvCxnSpPr>
          <p:nvPr/>
        </p:nvCxnSpPr>
        <p:spPr>
          <a:xfrm>
            <a:off x="145877" y="3164432"/>
            <a:ext cx="2884667" cy="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0ECE5DB9-5E2E-F4B1-4EB9-1F53284B5B24}"/>
              </a:ext>
            </a:extLst>
          </p:cNvPr>
          <p:cNvSpPr txBox="1"/>
          <p:nvPr/>
        </p:nvSpPr>
        <p:spPr>
          <a:xfrm>
            <a:off x="85641" y="2853103"/>
            <a:ext cx="3558012" cy="923330"/>
          </a:xfrm>
          <a:prstGeom prst="rect">
            <a:avLst/>
          </a:prstGeom>
          <a:noFill/>
        </p:spPr>
        <p:txBody>
          <a:bodyPr wrap="square" rtlCol="0">
            <a:spAutoFit/>
          </a:bodyPr>
          <a:lstStyle/>
          <a:p>
            <a:r>
              <a:rPr lang="en-US" b="1" dirty="0"/>
              <a:t>Industry Overview &amp; Health</a:t>
            </a:r>
          </a:p>
          <a:p>
            <a:endParaRPr lang="en-US" b="1" dirty="0"/>
          </a:p>
          <a:p>
            <a:endParaRPr lang="en-US" b="1" dirty="0"/>
          </a:p>
        </p:txBody>
      </p:sp>
      <p:sp>
        <p:nvSpPr>
          <p:cNvPr id="7" name="TextBox 6">
            <a:extLst>
              <a:ext uri="{FF2B5EF4-FFF2-40B4-BE49-F238E27FC236}">
                <a16:creationId xmlns:a16="http://schemas.microsoft.com/office/drawing/2014/main" id="{1B07B0D3-A581-5DCC-9C8B-C3B3E8C41A08}"/>
              </a:ext>
            </a:extLst>
          </p:cNvPr>
          <p:cNvSpPr txBox="1"/>
          <p:nvPr/>
        </p:nvSpPr>
        <p:spPr>
          <a:xfrm>
            <a:off x="85211" y="1423651"/>
            <a:ext cx="2259080" cy="369332"/>
          </a:xfrm>
          <a:prstGeom prst="rect">
            <a:avLst/>
          </a:prstGeom>
          <a:noFill/>
        </p:spPr>
        <p:txBody>
          <a:bodyPr wrap="none" rtlCol="0">
            <a:spAutoFit/>
          </a:bodyPr>
          <a:lstStyle/>
          <a:p>
            <a:r>
              <a:rPr lang="en-US" b="1" dirty="0"/>
              <a:t>Executive Summary</a:t>
            </a:r>
          </a:p>
        </p:txBody>
      </p:sp>
      <p:cxnSp>
        <p:nvCxnSpPr>
          <p:cNvPr id="8" name="Straight Connector 7">
            <a:extLst>
              <a:ext uri="{FF2B5EF4-FFF2-40B4-BE49-F238E27FC236}">
                <a16:creationId xmlns:a16="http://schemas.microsoft.com/office/drawing/2014/main" id="{3FA57454-0B8B-0B67-CF43-FAA4CA4A45FA}"/>
              </a:ext>
            </a:extLst>
          </p:cNvPr>
          <p:cNvCxnSpPr>
            <a:cxnSpLocks/>
          </p:cNvCxnSpPr>
          <p:nvPr/>
        </p:nvCxnSpPr>
        <p:spPr>
          <a:xfrm>
            <a:off x="145447" y="1739846"/>
            <a:ext cx="2138607"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1410A643-4B09-2B41-1132-423FF80AF75D}"/>
              </a:ext>
            </a:extLst>
          </p:cNvPr>
          <p:cNvCxnSpPr>
            <a:cxnSpLocks/>
          </p:cNvCxnSpPr>
          <p:nvPr/>
        </p:nvCxnSpPr>
        <p:spPr>
          <a:xfrm>
            <a:off x="0" y="2719990"/>
            <a:ext cx="6873476" cy="0"/>
          </a:xfrm>
          <a:prstGeom prst="line">
            <a:avLst/>
          </a:prstGeom>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DA5A8A3D-5DF7-EF22-C4DB-63AAA92CA9CC}"/>
              </a:ext>
            </a:extLst>
          </p:cNvPr>
          <p:cNvSpPr txBox="1"/>
          <p:nvPr/>
        </p:nvSpPr>
        <p:spPr>
          <a:xfrm>
            <a:off x="102963" y="3196890"/>
            <a:ext cx="3183792" cy="3477875"/>
          </a:xfrm>
          <a:prstGeom prst="rect">
            <a:avLst/>
          </a:prstGeom>
          <a:noFill/>
        </p:spPr>
        <p:txBody>
          <a:bodyPr wrap="square">
            <a:spAutoFit/>
          </a:bodyPr>
          <a:lstStyle/>
          <a:p>
            <a:r>
              <a:rPr lang="en-US" sz="900" dirty="0"/>
              <a:t>The </a:t>
            </a:r>
            <a:r>
              <a:rPr lang="en-US" sz="900" b="1" dirty="0"/>
              <a:t>technology industry</a:t>
            </a:r>
            <a:r>
              <a:rPr lang="en-US" sz="900" dirty="0"/>
              <a:t>—particularly in the </a:t>
            </a:r>
            <a:r>
              <a:rPr lang="en-US" sz="900" b="1" dirty="0"/>
              <a:t>hardware, software, and IT services</a:t>
            </a:r>
            <a:r>
              <a:rPr lang="en-US" sz="900" dirty="0"/>
              <a:t> sectors—forms a foundational pillar of the global digital economy, driving innovation and business transformation across multiple industries. This industry encompasses companies that design, manufacture, and integrate </a:t>
            </a:r>
            <a:r>
              <a:rPr lang="en-US" sz="900" b="1" dirty="0"/>
              <a:t>physical computing hardware</a:t>
            </a:r>
            <a:r>
              <a:rPr lang="en-US" sz="900" dirty="0"/>
              <a:t>, develop </a:t>
            </a:r>
            <a:r>
              <a:rPr lang="en-US" sz="900" b="1" dirty="0"/>
              <a:t>software applications and platforms</a:t>
            </a:r>
            <a:r>
              <a:rPr lang="en-US" sz="900" dirty="0"/>
              <a:t>, and provide critical </a:t>
            </a:r>
            <a:r>
              <a:rPr lang="en-US" sz="900" b="1" dirty="0"/>
              <a:t>IT services</a:t>
            </a:r>
            <a:r>
              <a:rPr lang="en-US" sz="900" dirty="0"/>
              <a:t> such as cloud computing, cybersecurity, and managed infrastructure that help organizations operate and modernize their technology environments⁵. </a:t>
            </a:r>
          </a:p>
          <a:p>
            <a:endParaRPr lang="en-US" sz="400" dirty="0"/>
          </a:p>
          <a:p>
            <a:r>
              <a:rPr lang="en-US" sz="900" dirty="0"/>
              <a:t>The </a:t>
            </a:r>
            <a:r>
              <a:rPr lang="en-US" sz="900" b="1" dirty="0"/>
              <a:t>hardware segment</a:t>
            </a:r>
            <a:r>
              <a:rPr lang="en-US" sz="900" dirty="0"/>
              <a:t> continues to evolve rapidly as demand grows for AI‑optimized servers, data center infrastructure, and next‑generation computing platforms that support emerging workloads⁴. </a:t>
            </a:r>
          </a:p>
          <a:p>
            <a:endParaRPr lang="en-US" sz="400" dirty="0"/>
          </a:p>
          <a:p>
            <a:r>
              <a:rPr lang="en-US" sz="900" dirty="0"/>
              <a:t>Meanwhile, the </a:t>
            </a:r>
            <a:r>
              <a:rPr lang="en-US" sz="900" b="1" dirty="0"/>
              <a:t>software market</a:t>
            </a:r>
            <a:r>
              <a:rPr lang="en-US" sz="900" dirty="0"/>
              <a:t> is expanding due to increased enterprise adoption of digital solutions, cloud‑native applications, and advanced analytics tools that improve efficiency and decision‑making⁶. The </a:t>
            </a:r>
            <a:r>
              <a:rPr lang="en-US" sz="900" b="1" dirty="0"/>
              <a:t>IT services sector</a:t>
            </a:r>
            <a:r>
              <a:rPr lang="en-US" sz="900" dirty="0"/>
              <a:t> is also growing robustly, with global spending on outsourced and cloud‑oriented services projected to rise significantly over the next decade as businesses accelerate digital transformation and seek flexible, scalable technology support⁷.</a:t>
            </a:r>
          </a:p>
        </p:txBody>
      </p:sp>
      <p:sp>
        <p:nvSpPr>
          <p:cNvPr id="30" name="TextBox 29">
            <a:extLst>
              <a:ext uri="{FF2B5EF4-FFF2-40B4-BE49-F238E27FC236}">
                <a16:creationId xmlns:a16="http://schemas.microsoft.com/office/drawing/2014/main" id="{CBCDF56F-BA77-57B2-F58A-E34CE248AF9F}"/>
              </a:ext>
            </a:extLst>
          </p:cNvPr>
          <p:cNvSpPr txBox="1"/>
          <p:nvPr/>
        </p:nvSpPr>
        <p:spPr>
          <a:xfrm>
            <a:off x="3542966" y="3177949"/>
            <a:ext cx="3183792" cy="2446824"/>
          </a:xfrm>
          <a:prstGeom prst="rect">
            <a:avLst/>
          </a:prstGeom>
          <a:noFill/>
        </p:spPr>
        <p:txBody>
          <a:bodyPr wrap="square">
            <a:spAutoFit/>
          </a:bodyPr>
          <a:lstStyle/>
          <a:p>
            <a:r>
              <a:rPr lang="en-US" sz="900" dirty="0"/>
              <a:t>Dell Technologies offers a </a:t>
            </a:r>
            <a:r>
              <a:rPr lang="en-US" sz="900" b="1" dirty="0"/>
              <a:t>diverse range of quality products and services</a:t>
            </a:r>
            <a:r>
              <a:rPr lang="en-US" sz="900" dirty="0"/>
              <a:t>, with its ISG and CSG business units delivering solutions that serve customers from individual consumers to large enterprises¹. The company combines hardware, software, and services to meet a broad spectrum of technology needs, while </a:t>
            </a:r>
            <a:r>
              <a:rPr lang="en-US" sz="900" b="1" dirty="0"/>
              <a:t>Dell AI factories</a:t>
            </a:r>
            <a:r>
              <a:rPr lang="en-US" sz="900" dirty="0"/>
              <a:t> provide simplified and customized pathways for companies, both AI‑experienced and non‑experienced, to integrate AI into their operations². </a:t>
            </a:r>
          </a:p>
          <a:p>
            <a:endParaRPr lang="en-US" sz="400" dirty="0"/>
          </a:p>
          <a:p>
            <a:r>
              <a:rPr lang="en-US" sz="900" dirty="0"/>
              <a:t>In Q2 FY26, Dell generated </a:t>
            </a:r>
            <a:r>
              <a:rPr lang="en-US" sz="900" b="1" dirty="0"/>
              <a:t>$29.3 billion in revenue</a:t>
            </a:r>
            <a:r>
              <a:rPr lang="en-US" sz="900" dirty="0"/>
              <a:t>, with ISG contributing 57%, up 44% YoY from enterprise infrastructure, and CSG contributing 43%, up 1% YoY from commercial and consumer PCs³. To meet varying customer needs, Dell leverages multiple brands such as </a:t>
            </a:r>
            <a:r>
              <a:rPr lang="en-US" sz="900" b="1" dirty="0"/>
              <a:t>Alienware, Dell Pro, and OptiPlex</a:t>
            </a:r>
            <a:r>
              <a:rPr lang="en-US" sz="900" dirty="0"/>
              <a:t>, spanning applications from gaming to professional workstations⁴.</a:t>
            </a:r>
          </a:p>
        </p:txBody>
      </p:sp>
      <p:cxnSp>
        <p:nvCxnSpPr>
          <p:cNvPr id="31" name="Straight Connector 30">
            <a:extLst>
              <a:ext uri="{FF2B5EF4-FFF2-40B4-BE49-F238E27FC236}">
                <a16:creationId xmlns:a16="http://schemas.microsoft.com/office/drawing/2014/main" id="{5282A240-F968-9A6E-D248-CAB1CADA7F79}"/>
              </a:ext>
            </a:extLst>
          </p:cNvPr>
          <p:cNvCxnSpPr>
            <a:cxnSpLocks/>
          </p:cNvCxnSpPr>
          <p:nvPr/>
        </p:nvCxnSpPr>
        <p:spPr>
          <a:xfrm>
            <a:off x="3603202" y="3164432"/>
            <a:ext cx="2884667" cy="0"/>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4F4FD2A6-AE8E-E018-32DF-A1211AEA94B0}"/>
              </a:ext>
            </a:extLst>
          </p:cNvPr>
          <p:cNvSpPr txBox="1"/>
          <p:nvPr/>
        </p:nvSpPr>
        <p:spPr>
          <a:xfrm>
            <a:off x="3542966" y="2853103"/>
            <a:ext cx="3558012" cy="923330"/>
          </a:xfrm>
          <a:prstGeom prst="rect">
            <a:avLst/>
          </a:prstGeom>
          <a:noFill/>
        </p:spPr>
        <p:txBody>
          <a:bodyPr wrap="square" rtlCol="0">
            <a:spAutoFit/>
          </a:bodyPr>
          <a:lstStyle/>
          <a:p>
            <a:r>
              <a:rPr lang="en-US" b="1" dirty="0"/>
              <a:t>Company Overview</a:t>
            </a:r>
          </a:p>
          <a:p>
            <a:endParaRPr lang="en-US" b="1" dirty="0"/>
          </a:p>
          <a:p>
            <a:endParaRPr lang="en-US" b="1" dirty="0"/>
          </a:p>
        </p:txBody>
      </p:sp>
      <p:cxnSp>
        <p:nvCxnSpPr>
          <p:cNvPr id="33" name="Straight Connector 32">
            <a:extLst>
              <a:ext uri="{FF2B5EF4-FFF2-40B4-BE49-F238E27FC236}">
                <a16:creationId xmlns:a16="http://schemas.microsoft.com/office/drawing/2014/main" id="{67FAB693-2E6B-90D8-C943-7874FD745832}"/>
              </a:ext>
            </a:extLst>
          </p:cNvPr>
          <p:cNvCxnSpPr>
            <a:cxnSpLocks/>
          </p:cNvCxnSpPr>
          <p:nvPr/>
        </p:nvCxnSpPr>
        <p:spPr>
          <a:xfrm>
            <a:off x="3603202" y="7278004"/>
            <a:ext cx="1718770" cy="0"/>
          </a:xfrm>
          <a:prstGeom prst="line">
            <a:avLst/>
          </a:prstGeom>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5DC69AD1-0C71-C59A-1782-80D208574244}"/>
              </a:ext>
            </a:extLst>
          </p:cNvPr>
          <p:cNvSpPr txBox="1"/>
          <p:nvPr/>
        </p:nvSpPr>
        <p:spPr>
          <a:xfrm>
            <a:off x="3542964" y="6979836"/>
            <a:ext cx="3183792" cy="1785104"/>
          </a:xfrm>
          <a:prstGeom prst="rect">
            <a:avLst/>
          </a:prstGeom>
          <a:noFill/>
        </p:spPr>
        <p:txBody>
          <a:bodyPr wrap="square" rtlCol="0">
            <a:spAutoFit/>
          </a:bodyPr>
          <a:lstStyle/>
          <a:p>
            <a:r>
              <a:rPr lang="en-US" b="1" dirty="0"/>
              <a:t>Free Cash Flows</a:t>
            </a:r>
          </a:p>
          <a:p>
            <a:r>
              <a:rPr lang="en-US" sz="800" i="1" dirty="0"/>
              <a:t>Dell’s strong, consistent free cash flow supports significant returns to shareholders.</a:t>
            </a:r>
            <a:r>
              <a:rPr lang="en-US" sz="800" b="1" i="1" dirty="0"/>
              <a:t> D</a:t>
            </a:r>
            <a:r>
              <a:rPr lang="en-US" sz="800" dirty="0"/>
              <a:t>ell sets an  </a:t>
            </a:r>
            <a:r>
              <a:rPr lang="en-US" sz="800" b="1" dirty="0"/>
              <a:t>80%+ </a:t>
            </a:r>
            <a:r>
              <a:rPr lang="en-US" sz="800" dirty="0"/>
              <a:t>target return of adj. FCF to shareholders through dividends and share repurchases</a:t>
            </a:r>
            <a:r>
              <a:rPr lang="en-US" sz="800" baseline="30000" dirty="0"/>
              <a:t>6. </a:t>
            </a:r>
            <a:r>
              <a:rPr lang="en-US" sz="800" dirty="0"/>
              <a:t>Also, adjusted free cash flow has averaged $4.5 B over last six years</a:t>
            </a:r>
            <a:r>
              <a:rPr lang="en-US" sz="800" baseline="30000" dirty="0"/>
              <a:t>6. </a:t>
            </a:r>
            <a:r>
              <a:rPr lang="en-US" sz="800" dirty="0"/>
              <a:t>Finally, Q1–Q2 FY26 stock repurchases increased ~105% and dividends increased ~17% compared to Q1-Q2 FY25, boosting shareholder value and returns.</a:t>
            </a:r>
            <a:r>
              <a:rPr lang="en-US" sz="800" baseline="30000" dirty="0"/>
              <a:t>9</a:t>
            </a:r>
          </a:p>
          <a:p>
            <a:endParaRPr lang="en-US" b="1" dirty="0"/>
          </a:p>
          <a:p>
            <a:endParaRPr lang="en-US" b="1" dirty="0"/>
          </a:p>
        </p:txBody>
      </p:sp>
      <p:cxnSp>
        <p:nvCxnSpPr>
          <p:cNvPr id="36" name="Straight Connector 35">
            <a:extLst>
              <a:ext uri="{FF2B5EF4-FFF2-40B4-BE49-F238E27FC236}">
                <a16:creationId xmlns:a16="http://schemas.microsoft.com/office/drawing/2014/main" id="{CC84D0FB-1808-EF83-4D76-8A5B316452F0}"/>
              </a:ext>
            </a:extLst>
          </p:cNvPr>
          <p:cNvCxnSpPr>
            <a:cxnSpLocks/>
          </p:cNvCxnSpPr>
          <p:nvPr/>
        </p:nvCxnSpPr>
        <p:spPr>
          <a:xfrm>
            <a:off x="3603202" y="5841063"/>
            <a:ext cx="1688519" cy="0"/>
          </a:xfrm>
          <a:prstGeom prst="line">
            <a:avLst/>
          </a:prstGeom>
        </p:spPr>
        <p:style>
          <a:lnRef idx="2">
            <a:schemeClr val="dk1"/>
          </a:lnRef>
          <a:fillRef idx="0">
            <a:schemeClr val="dk1"/>
          </a:fillRef>
          <a:effectRef idx="1">
            <a:schemeClr val="dk1"/>
          </a:effectRef>
          <a:fontRef idx="minor">
            <a:schemeClr val="tx1"/>
          </a:fontRef>
        </p:style>
      </p:cxnSp>
      <p:sp>
        <p:nvSpPr>
          <p:cNvPr id="37" name="TextBox 36">
            <a:extLst>
              <a:ext uri="{FF2B5EF4-FFF2-40B4-BE49-F238E27FC236}">
                <a16:creationId xmlns:a16="http://schemas.microsoft.com/office/drawing/2014/main" id="{FC859ADF-9F32-D8B6-0312-D20851CE06A6}"/>
              </a:ext>
            </a:extLst>
          </p:cNvPr>
          <p:cNvSpPr txBox="1"/>
          <p:nvPr/>
        </p:nvSpPr>
        <p:spPr>
          <a:xfrm>
            <a:off x="3542965" y="5529734"/>
            <a:ext cx="3183792" cy="2062103"/>
          </a:xfrm>
          <a:prstGeom prst="rect">
            <a:avLst/>
          </a:prstGeom>
          <a:noFill/>
        </p:spPr>
        <p:txBody>
          <a:bodyPr wrap="square" rtlCol="0">
            <a:spAutoFit/>
          </a:bodyPr>
          <a:lstStyle/>
          <a:p>
            <a:r>
              <a:rPr lang="en-US" b="1" dirty="0"/>
              <a:t>Revenue Cycles </a:t>
            </a:r>
          </a:p>
          <a:p>
            <a:endParaRPr lang="en-US" sz="200" i="1" dirty="0"/>
          </a:p>
          <a:p>
            <a:r>
              <a:rPr lang="en-US" sz="800" dirty="0"/>
              <a:t>The Covid Pandemic accelerated adoption of PCs and remote work setups as education and commerce were forced online.</a:t>
            </a:r>
            <a:r>
              <a:rPr lang="en-US" sz="800" baseline="30000" dirty="0"/>
              <a:t>3                                                                                                                          </a:t>
            </a:r>
          </a:p>
          <a:p>
            <a:pPr>
              <a:spcBef>
                <a:spcPts val="0"/>
              </a:spcBef>
            </a:pPr>
            <a:r>
              <a:rPr lang="en-US" sz="800" dirty="0"/>
              <a:t>Average laptop life is </a:t>
            </a:r>
            <a:r>
              <a:rPr lang="en-US" sz="800" b="1" dirty="0"/>
              <a:t>~4.5 </a:t>
            </a:r>
            <a:r>
              <a:rPr lang="en-US" sz="800" dirty="0"/>
              <a:t>years </a:t>
            </a:r>
            <a:r>
              <a:rPr lang="en-US" sz="800" baseline="30000" dirty="0"/>
              <a:t>1 </a:t>
            </a:r>
            <a:r>
              <a:rPr lang="en-US" sz="800" dirty="0"/>
              <a:t>; upcoming replacement cycle supports demand.</a:t>
            </a:r>
          </a:p>
          <a:p>
            <a:pPr>
              <a:spcBef>
                <a:spcPts val="0"/>
              </a:spcBef>
            </a:pPr>
            <a:endParaRPr lang="en-US" sz="400" dirty="0"/>
          </a:p>
          <a:p>
            <a:r>
              <a:rPr lang="en-US" sz="800" dirty="0"/>
              <a:t>Huge spike in computer and accessory sales during early COVID compared to previous year(laptops +40%, keyboards +64%, headsets +134%, monitors +138%, webcams +179%).</a:t>
            </a:r>
            <a:r>
              <a:rPr lang="en-US" sz="800" baseline="30000" dirty="0"/>
              <a:t>8 </a:t>
            </a:r>
            <a:r>
              <a:rPr lang="en-US" sz="800" dirty="0"/>
              <a:t>Furthermore, +75% of Dell's CSG Revenue is from Commercial PCs.</a:t>
            </a:r>
            <a:r>
              <a:rPr lang="en-US" sz="800" baseline="30000" dirty="0"/>
              <a:t>6</a:t>
            </a:r>
          </a:p>
          <a:p>
            <a:endParaRPr lang="en-US" b="1" dirty="0"/>
          </a:p>
          <a:p>
            <a:endParaRPr lang="en-US" b="1" dirty="0"/>
          </a:p>
        </p:txBody>
      </p:sp>
      <p:sp>
        <p:nvSpPr>
          <p:cNvPr id="2" name="TextBox 1">
            <a:extLst>
              <a:ext uri="{FF2B5EF4-FFF2-40B4-BE49-F238E27FC236}">
                <a16:creationId xmlns:a16="http://schemas.microsoft.com/office/drawing/2014/main" id="{BFC138D1-F8DC-0471-50B6-33454DF8F138}"/>
              </a:ext>
            </a:extLst>
          </p:cNvPr>
          <p:cNvSpPr txBox="1"/>
          <p:nvPr/>
        </p:nvSpPr>
        <p:spPr>
          <a:xfrm>
            <a:off x="262934" y="1069829"/>
            <a:ext cx="6947452" cy="307777"/>
          </a:xfrm>
          <a:prstGeom prst="rect">
            <a:avLst/>
          </a:prstGeom>
          <a:noFill/>
        </p:spPr>
        <p:txBody>
          <a:bodyPr wrap="square" rtlCol="0">
            <a:spAutoFit/>
          </a:bodyPr>
          <a:lstStyle/>
          <a:p>
            <a:r>
              <a:rPr lang="en-US" sz="1400" dirty="0"/>
              <a:t>Price: 168.44         MKT CAP: 108.9B        Price Target: 172        Implied Upside: 2.11%</a:t>
            </a:r>
          </a:p>
        </p:txBody>
      </p:sp>
      <p:grpSp>
        <p:nvGrpSpPr>
          <p:cNvPr id="13" name="Group 12">
            <a:extLst>
              <a:ext uri="{FF2B5EF4-FFF2-40B4-BE49-F238E27FC236}">
                <a16:creationId xmlns:a16="http://schemas.microsoft.com/office/drawing/2014/main" id="{7D79E697-CCA0-5022-5582-C4309C1AD9AB}"/>
              </a:ext>
            </a:extLst>
          </p:cNvPr>
          <p:cNvGrpSpPr/>
          <p:nvPr/>
        </p:nvGrpSpPr>
        <p:grpSpPr>
          <a:xfrm>
            <a:off x="31568" y="7782567"/>
            <a:ext cx="3413079" cy="1344020"/>
            <a:chOff x="8159777" y="4261679"/>
            <a:chExt cx="4057680" cy="2074957"/>
          </a:xfrm>
        </p:grpSpPr>
        <p:pic>
          <p:nvPicPr>
            <p:cNvPr id="16" name="Picture 15">
              <a:extLst>
                <a:ext uri="{FF2B5EF4-FFF2-40B4-BE49-F238E27FC236}">
                  <a16:creationId xmlns:a16="http://schemas.microsoft.com/office/drawing/2014/main" id="{AC5DA6F5-3619-D2F4-C570-5465CDB76115}"/>
                </a:ext>
              </a:extLst>
            </p:cNvPr>
            <p:cNvPicPr>
              <a:picLocks noChangeAspect="1"/>
            </p:cNvPicPr>
            <p:nvPr/>
          </p:nvPicPr>
          <p:blipFill>
            <a:blip r:embed="rId2"/>
            <a:srcRect t="18726"/>
            <a:stretch>
              <a:fillRect/>
            </a:stretch>
          </p:blipFill>
          <p:spPr>
            <a:xfrm>
              <a:off x="8159777" y="4641271"/>
              <a:ext cx="4057680" cy="1695365"/>
            </a:xfrm>
            <a:prstGeom prst="rect">
              <a:avLst/>
            </a:prstGeom>
          </p:spPr>
        </p:pic>
        <p:sp>
          <p:nvSpPr>
            <p:cNvPr id="18" name="Rectangle 17">
              <a:extLst>
                <a:ext uri="{FF2B5EF4-FFF2-40B4-BE49-F238E27FC236}">
                  <a16:creationId xmlns:a16="http://schemas.microsoft.com/office/drawing/2014/main" id="{86B1CADD-66AF-71DB-1B23-67F2C3DCB912}"/>
                </a:ext>
              </a:extLst>
            </p:cNvPr>
            <p:cNvSpPr/>
            <p:nvPr/>
          </p:nvSpPr>
          <p:spPr>
            <a:xfrm>
              <a:off x="9404982" y="4261679"/>
              <a:ext cx="24765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FBBBA4D1-ABC1-E9FA-437C-417A949ACA85}"/>
              </a:ext>
            </a:extLst>
          </p:cNvPr>
          <p:cNvGrpSpPr/>
          <p:nvPr/>
        </p:nvGrpSpPr>
        <p:grpSpPr>
          <a:xfrm>
            <a:off x="71387" y="6447194"/>
            <a:ext cx="3333440" cy="1317070"/>
            <a:chOff x="4490818" y="4279900"/>
            <a:chExt cx="3602631" cy="2009110"/>
          </a:xfrm>
        </p:grpSpPr>
        <p:pic>
          <p:nvPicPr>
            <p:cNvPr id="26" name="Picture 25">
              <a:extLst>
                <a:ext uri="{FF2B5EF4-FFF2-40B4-BE49-F238E27FC236}">
                  <a16:creationId xmlns:a16="http://schemas.microsoft.com/office/drawing/2014/main" id="{F446884E-C98F-806F-C042-7A045D8B56FF}"/>
                </a:ext>
              </a:extLst>
            </p:cNvPr>
            <p:cNvPicPr>
              <a:picLocks noChangeAspect="1"/>
            </p:cNvPicPr>
            <p:nvPr/>
          </p:nvPicPr>
          <p:blipFill>
            <a:blip r:embed="rId3"/>
            <a:srcRect t="19010"/>
            <a:stretch>
              <a:fillRect/>
            </a:stretch>
          </p:blipFill>
          <p:spPr>
            <a:xfrm>
              <a:off x="4490818" y="4638150"/>
              <a:ext cx="3602631" cy="1650860"/>
            </a:xfrm>
            <a:prstGeom prst="rect">
              <a:avLst/>
            </a:prstGeom>
          </p:spPr>
        </p:pic>
        <p:sp>
          <p:nvSpPr>
            <p:cNvPr id="27" name="Rectangle 26">
              <a:extLst>
                <a:ext uri="{FF2B5EF4-FFF2-40B4-BE49-F238E27FC236}">
                  <a16:creationId xmlns:a16="http://schemas.microsoft.com/office/drawing/2014/main" id="{E39AABD2-ABBA-1A61-1C64-556BCDCDAFF3}"/>
                </a:ext>
              </a:extLst>
            </p:cNvPr>
            <p:cNvSpPr/>
            <p:nvPr/>
          </p:nvSpPr>
          <p:spPr>
            <a:xfrm>
              <a:off x="5314950" y="4279900"/>
              <a:ext cx="247650" cy="2413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a:extLst>
              <a:ext uri="{FF2B5EF4-FFF2-40B4-BE49-F238E27FC236}">
                <a16:creationId xmlns:a16="http://schemas.microsoft.com/office/drawing/2014/main" id="{1FEFD6F6-714C-3A41-E496-92B31799EFC7}"/>
              </a:ext>
            </a:extLst>
          </p:cNvPr>
          <p:cNvSpPr txBox="1"/>
          <p:nvPr/>
        </p:nvSpPr>
        <p:spPr>
          <a:xfrm>
            <a:off x="3542965" y="8440147"/>
            <a:ext cx="3183792" cy="1077218"/>
          </a:xfrm>
          <a:prstGeom prst="rect">
            <a:avLst/>
          </a:prstGeom>
          <a:noFill/>
        </p:spPr>
        <p:txBody>
          <a:bodyPr wrap="square">
            <a:spAutoFit/>
          </a:bodyPr>
          <a:lstStyle/>
          <a:p>
            <a:r>
              <a:rPr lang="en-US" sz="800" dirty="0"/>
              <a:t>Dell is Investing into their Future, </a:t>
            </a:r>
            <a:r>
              <a:rPr lang="en-US" sz="800" u="sng" dirty="0"/>
              <a:t>Driving B2B Demand</a:t>
            </a:r>
            <a:r>
              <a:rPr lang="en-US" sz="800" dirty="0"/>
              <a:t>:</a:t>
            </a:r>
          </a:p>
          <a:p>
            <a:r>
              <a:rPr lang="en-US" sz="800" dirty="0"/>
              <a:t>In a fast-growing tech sector, Dell invests strategically in R&amp;D and partnerships to expand its brand and product offerings for thriving companies. Dell has created strategic partnerships such as the Dell AI Factory with NVIDIA, Intel, and AMD</a:t>
            </a:r>
            <a:r>
              <a:rPr lang="en-US" sz="800" baseline="30000" dirty="0"/>
              <a:t>6</a:t>
            </a:r>
            <a:r>
              <a:rPr lang="en-US" sz="800" dirty="0"/>
              <a:t> ensuring Dell products and services are aligned with fast growing technological trends. In fact, ~ $649 M spent on average for past six quarters for capital expenditure</a:t>
            </a:r>
            <a:r>
              <a:rPr lang="en-US" sz="800" baseline="30000" dirty="0"/>
              <a:t>9</a:t>
            </a:r>
            <a:r>
              <a:rPr lang="en-US" sz="800" dirty="0"/>
              <a:t> ensuring products maintain competitive advantage. </a:t>
            </a:r>
          </a:p>
        </p:txBody>
      </p:sp>
      <p:sp>
        <p:nvSpPr>
          <p:cNvPr id="35" name="TextBox 34">
            <a:extLst>
              <a:ext uri="{FF2B5EF4-FFF2-40B4-BE49-F238E27FC236}">
                <a16:creationId xmlns:a16="http://schemas.microsoft.com/office/drawing/2014/main" id="{A366AE59-2956-B7FF-D162-5B0F24D3D751}"/>
              </a:ext>
            </a:extLst>
          </p:cNvPr>
          <p:cNvSpPr txBox="1"/>
          <p:nvPr/>
        </p:nvSpPr>
        <p:spPr>
          <a:xfrm>
            <a:off x="654841" y="6601737"/>
            <a:ext cx="239168" cy="215444"/>
          </a:xfrm>
          <a:prstGeom prst="rect">
            <a:avLst/>
          </a:prstGeom>
          <a:noFill/>
        </p:spPr>
        <p:txBody>
          <a:bodyPr wrap="none" rtlCol="0">
            <a:spAutoFit/>
          </a:bodyPr>
          <a:lstStyle/>
          <a:p>
            <a:r>
              <a:rPr lang="en-US" sz="1200" baseline="30000" dirty="0">
                <a:solidFill>
                  <a:srgbClr val="007DB8"/>
                </a:solidFill>
              </a:rPr>
              <a:t>9</a:t>
            </a:r>
          </a:p>
        </p:txBody>
      </p:sp>
      <p:sp>
        <p:nvSpPr>
          <p:cNvPr id="38" name="TextBox 37">
            <a:extLst>
              <a:ext uri="{FF2B5EF4-FFF2-40B4-BE49-F238E27FC236}">
                <a16:creationId xmlns:a16="http://schemas.microsoft.com/office/drawing/2014/main" id="{1FE09714-7FCB-FAC8-DF9F-CECE2B746FC1}"/>
              </a:ext>
            </a:extLst>
          </p:cNvPr>
          <p:cNvSpPr txBox="1"/>
          <p:nvPr/>
        </p:nvSpPr>
        <p:spPr>
          <a:xfrm>
            <a:off x="654841" y="7938865"/>
            <a:ext cx="239168" cy="215444"/>
          </a:xfrm>
          <a:prstGeom prst="rect">
            <a:avLst/>
          </a:prstGeom>
          <a:noFill/>
        </p:spPr>
        <p:txBody>
          <a:bodyPr wrap="none" rtlCol="0">
            <a:spAutoFit/>
          </a:bodyPr>
          <a:lstStyle/>
          <a:p>
            <a:r>
              <a:rPr lang="en-US" sz="1200" baseline="30000" dirty="0">
                <a:solidFill>
                  <a:srgbClr val="007DB8"/>
                </a:solidFill>
              </a:rPr>
              <a:t>9</a:t>
            </a:r>
          </a:p>
        </p:txBody>
      </p:sp>
    </p:spTree>
    <p:extLst>
      <p:ext uri="{BB962C8B-B14F-4D97-AF65-F5344CB8AC3E}">
        <p14:creationId xmlns:p14="http://schemas.microsoft.com/office/powerpoint/2010/main" val="2765130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99633E-99D9-5FAB-B967-868A5C5A779E}"/>
              </a:ext>
            </a:extLst>
          </p:cNvPr>
          <p:cNvSpPr>
            <a:spLocks noGrp="1"/>
          </p:cNvSpPr>
          <p:nvPr>
            <p:ph type="ctrTitle"/>
          </p:nvPr>
        </p:nvSpPr>
        <p:spPr>
          <a:xfrm>
            <a:off x="-15476" y="192267"/>
            <a:ext cx="6947452" cy="664824"/>
          </a:xfrm>
        </p:spPr>
        <p:txBody>
          <a:bodyPr>
            <a:normAutofit/>
          </a:bodyPr>
          <a:lstStyle/>
          <a:p>
            <a:pPr algn="l"/>
            <a:r>
              <a:rPr lang="en-US" sz="3200" b="1" dirty="0"/>
              <a:t>Stanley Black &amp; Decker (NYSE: SWK)</a:t>
            </a:r>
          </a:p>
        </p:txBody>
      </p:sp>
      <p:sp>
        <p:nvSpPr>
          <p:cNvPr id="6" name="Rectangle 5">
            <a:extLst>
              <a:ext uri="{FF2B5EF4-FFF2-40B4-BE49-F238E27FC236}">
                <a16:creationId xmlns:a16="http://schemas.microsoft.com/office/drawing/2014/main" id="{D3D6AC9B-2FA7-E3AE-D96D-93BDC9605171}"/>
              </a:ext>
            </a:extLst>
          </p:cNvPr>
          <p:cNvSpPr/>
          <p:nvPr/>
        </p:nvSpPr>
        <p:spPr>
          <a:xfrm>
            <a:off x="0" y="991098"/>
            <a:ext cx="6858000" cy="425290"/>
          </a:xfrm>
          <a:prstGeom prst="rect">
            <a:avLst/>
          </a:prstGeom>
          <a:solidFill>
            <a:srgbClr val="F4DF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AF17086C-36B9-EC17-FD55-F07BE5B226BE}"/>
              </a:ext>
            </a:extLst>
          </p:cNvPr>
          <p:cNvPicPr>
            <a:picLocks noChangeAspect="1"/>
          </p:cNvPicPr>
          <p:nvPr/>
        </p:nvPicPr>
        <p:blipFill>
          <a:blip r:embed="rId2"/>
          <a:stretch>
            <a:fillRect/>
          </a:stretch>
        </p:blipFill>
        <p:spPr>
          <a:xfrm>
            <a:off x="3507350" y="5034317"/>
            <a:ext cx="3296733" cy="1931467"/>
          </a:xfrm>
          <a:prstGeom prst="rect">
            <a:avLst/>
          </a:prstGeom>
        </p:spPr>
      </p:pic>
      <p:sp>
        <p:nvSpPr>
          <p:cNvPr id="12" name="TextBox 11">
            <a:extLst>
              <a:ext uri="{FF2B5EF4-FFF2-40B4-BE49-F238E27FC236}">
                <a16:creationId xmlns:a16="http://schemas.microsoft.com/office/drawing/2014/main" id="{5203AE27-67F4-8A15-128B-8A764974B0F8}"/>
              </a:ext>
            </a:extLst>
          </p:cNvPr>
          <p:cNvSpPr txBox="1"/>
          <p:nvPr/>
        </p:nvSpPr>
        <p:spPr>
          <a:xfrm>
            <a:off x="85211" y="1765883"/>
            <a:ext cx="6718872" cy="738664"/>
          </a:xfrm>
          <a:prstGeom prst="rect">
            <a:avLst/>
          </a:prstGeom>
          <a:noFill/>
          <a:ln>
            <a:noFill/>
          </a:ln>
        </p:spPr>
        <p:txBody>
          <a:bodyPr wrap="square" lIns="91440" tIns="45720" rIns="91440" bIns="45720" rtlCol="0" anchor="t">
            <a:spAutoFit/>
          </a:bodyPr>
          <a:lstStyle/>
          <a:p>
            <a:r>
              <a:rPr lang="en-US" sz="1400" b="1" dirty="0"/>
              <a:t>Investors appear slow to trust SWK’s transformation efforts despite </a:t>
            </a:r>
            <a:r>
              <a:rPr lang="en-US" sz="1400" b="1" u="sng" dirty="0"/>
              <a:t>actual </a:t>
            </a:r>
            <a:r>
              <a:rPr lang="en-US" sz="1400" b="1" dirty="0"/>
              <a:t>performance improvements. This, combined with </a:t>
            </a:r>
            <a:r>
              <a:rPr lang="en-US" sz="1400" b="1" u="sng" dirty="0"/>
              <a:t>strong</a:t>
            </a:r>
            <a:r>
              <a:rPr lang="en-US" sz="1400" b="1" dirty="0"/>
              <a:t> fundamental demand, highlights an </a:t>
            </a:r>
            <a:r>
              <a:rPr lang="en-US" sz="1400" b="1" u="sng" dirty="0"/>
              <a:t>early</a:t>
            </a:r>
            <a:r>
              <a:rPr lang="en-US" sz="1400" b="1" dirty="0"/>
              <a:t> and bargain-priced, </a:t>
            </a:r>
            <a:r>
              <a:rPr lang="en-US" sz="1400" b="1" u="sng" dirty="0"/>
              <a:t>long-term</a:t>
            </a:r>
            <a:r>
              <a:rPr lang="en-US" sz="1400" b="1" dirty="0"/>
              <a:t> BUY opportunity.</a:t>
            </a:r>
          </a:p>
        </p:txBody>
      </p:sp>
      <p:sp>
        <p:nvSpPr>
          <p:cNvPr id="14" name="TextBox 13">
            <a:extLst>
              <a:ext uri="{FF2B5EF4-FFF2-40B4-BE49-F238E27FC236}">
                <a16:creationId xmlns:a16="http://schemas.microsoft.com/office/drawing/2014/main" id="{49B00319-D734-21E1-5CAD-93B09F1F749B}"/>
              </a:ext>
            </a:extLst>
          </p:cNvPr>
          <p:cNvSpPr txBox="1"/>
          <p:nvPr/>
        </p:nvSpPr>
        <p:spPr>
          <a:xfrm>
            <a:off x="0" y="9427458"/>
            <a:ext cx="6858000"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 b="1" dirty="0"/>
              <a:t>Sources</a:t>
            </a:r>
            <a:r>
              <a:rPr lang="en-US" sz="500" dirty="0"/>
              <a:t>: </a:t>
            </a:r>
            <a:r>
              <a:rPr lang="en-US" sz="500" baseline="30000" dirty="0"/>
              <a:t>1</a:t>
            </a:r>
            <a:r>
              <a:rPr lang="en-US" sz="500" dirty="0"/>
              <a:t>YahooFinance.com as of March 28, 2025; </a:t>
            </a:r>
            <a:r>
              <a:rPr lang="en-US" sz="500" baseline="30000" dirty="0"/>
              <a:t>2</a:t>
            </a:r>
            <a:r>
              <a:rPr lang="en-US" sz="500" dirty="0"/>
              <a:t>https://www.marketscreener.com/quote/stock/STANLEY-BLACK-DECKER-INC-14522/consensus/;  </a:t>
            </a:r>
            <a:r>
              <a:rPr lang="en-US" sz="500" baseline="30000" dirty="0"/>
              <a:t>3</a:t>
            </a:r>
            <a:r>
              <a:rPr lang="en-US" sz="500" dirty="0"/>
              <a:t>Global  Infrastructure Hub’s Global Infrastructure Outlook Infrastructure investment needs 56 countries, 7 sectors to 2040; </a:t>
            </a:r>
            <a:r>
              <a:rPr lang="en-US" sz="500" baseline="30000" dirty="0"/>
              <a:t>4</a:t>
            </a:r>
            <a:r>
              <a:rPr lang="en-US" sz="500" dirty="0"/>
              <a:t>SWK SEC 10-K and 10-Q Filings 2023, 2022, and 2021; </a:t>
            </a:r>
            <a:r>
              <a:rPr lang="en-US" sz="500" baseline="30000" dirty="0"/>
              <a:t>5</a:t>
            </a:r>
            <a:r>
              <a:rPr lang="en-US" sz="500" dirty="0"/>
              <a:t>https://www.thisoldhouse.com/moving/median-age-of-a-house; </a:t>
            </a:r>
            <a:r>
              <a:rPr lang="en-US" sz="500" baseline="30000" dirty="0"/>
              <a:t>6</a:t>
            </a:r>
            <a:r>
              <a:rPr lang="en-US" sz="500" dirty="0"/>
              <a:t>https://www.freddiemac.com/research/forecast/20241126-us-economy-remains-resilient-with-strong-q3-growth#:~:text=In%20our%20last%20published%20estimate,slightly%20to%203.7%20million%20un; </a:t>
            </a:r>
            <a:r>
              <a:rPr lang="en-US" sz="500" baseline="30000" dirty="0"/>
              <a:t>7</a:t>
            </a:r>
            <a:r>
              <a:rPr lang="en-US" sz="500" dirty="0"/>
              <a:t>https://www.stanleyblackanddecker.com/impact/people/grow-the-trades/grant-recipients; </a:t>
            </a:r>
            <a:r>
              <a:rPr lang="en-US" sz="500" baseline="30000" dirty="0"/>
              <a:t>8</a:t>
            </a:r>
            <a:r>
              <a:rPr lang="en-US" sz="500" dirty="0"/>
              <a:t>https://www.stanleyblackanddecker.com/impact/people/grow-the-trades; </a:t>
            </a:r>
            <a:r>
              <a:rPr lang="en-US" sz="500" baseline="30000" dirty="0"/>
              <a:t>9</a:t>
            </a:r>
            <a:r>
              <a:rPr lang="en-US" sz="500" dirty="0"/>
              <a:t>www.Nasdaq.com/market-activity/stock/</a:t>
            </a:r>
            <a:r>
              <a:rPr lang="en-US" sz="500" dirty="0" err="1"/>
              <a:t>swk</a:t>
            </a:r>
            <a:r>
              <a:rPr lang="en-US" sz="500" dirty="0"/>
              <a:t>/dividend-history;  </a:t>
            </a:r>
            <a:r>
              <a:rPr lang="en-US" sz="500" baseline="30000" dirty="0"/>
              <a:t>10</a:t>
            </a:r>
            <a:r>
              <a:rPr lang="en-US" sz="500" dirty="0"/>
              <a:t>https://public.com/stocks/</a:t>
            </a:r>
            <a:r>
              <a:rPr lang="en-US" sz="500" dirty="0" err="1"/>
              <a:t>swk</a:t>
            </a:r>
            <a:r>
              <a:rPr lang="en-US" sz="500" dirty="0"/>
              <a:t>/</a:t>
            </a:r>
            <a:r>
              <a:rPr lang="en-US" sz="500" dirty="0" err="1"/>
              <a:t>pe-ratio?wpsrc</a:t>
            </a:r>
            <a:r>
              <a:rPr lang="en-US" sz="500" dirty="0"/>
              <a:t>=</a:t>
            </a:r>
            <a:r>
              <a:rPr lang="en-US" sz="500" dirty="0" err="1"/>
              <a:t>Organic+Search&amp;wpsn</a:t>
            </a:r>
            <a:r>
              <a:rPr lang="en-US" sz="500" dirty="0"/>
              <a:t>=www.google.com;</a:t>
            </a:r>
            <a:r>
              <a:rPr lang="en-US" sz="500" baseline="30000" dirty="0"/>
              <a:t> 11</a:t>
            </a:r>
            <a:r>
              <a:rPr lang="en-US" sz="500" dirty="0"/>
              <a:t>https://macrotrends.net/?q=</a:t>
            </a:r>
            <a:r>
              <a:rPr lang="en-US" sz="500" dirty="0" err="1"/>
              <a:t>swk</a:t>
            </a:r>
            <a:r>
              <a:rPr lang="en-US" sz="500" dirty="0"/>
              <a:t>+; </a:t>
            </a:r>
            <a:r>
              <a:rPr lang="en-US" sz="500" baseline="30000" dirty="0"/>
              <a:t>12</a:t>
            </a:r>
            <a:r>
              <a:rPr lang="en-US" sz="500" dirty="0"/>
              <a:t>https://www.stanleyblackanddecker.com/news-stories/stories/dive-innovation-explore-our-popular-mechanics-tool-award-winners; </a:t>
            </a:r>
            <a:r>
              <a:rPr lang="en-US" sz="500" baseline="30000" dirty="0"/>
              <a:t>13</a:t>
            </a:r>
            <a:r>
              <a:rPr lang="en-US" sz="500" dirty="0"/>
              <a:t>https://www.stanleyblackanddecker.com/news-stories/stories/winning-big-red-dot-awards; </a:t>
            </a:r>
            <a:r>
              <a:rPr lang="en-US" sz="500" baseline="30000" dirty="0"/>
              <a:t>14</a:t>
            </a:r>
            <a:r>
              <a:rPr lang="en-US" sz="500" dirty="0"/>
              <a:t>https://www.stanleyblackanddecker.com/brands/industrial/engineered-fastening; </a:t>
            </a:r>
            <a:r>
              <a:rPr lang="en-US" sz="500" baseline="30000" dirty="0"/>
              <a:t>15</a:t>
            </a:r>
            <a:r>
              <a:rPr lang="en-US" sz="500" dirty="0"/>
              <a:t>https://newsroom.stanleyblackanddecker.com/2024-06-17-DEWALT-Introduces-XR-POWERPACK-TM-Tabless-Cell-Battery-Within-Next-Generation-XR-R-Portfolio-Establishing-its-Best-Performing-Line-Of-20V-MAX-Batteries-and-Power-Tools</a:t>
            </a:r>
            <a:endParaRPr lang="en-US" dirty="0"/>
          </a:p>
        </p:txBody>
      </p:sp>
      <p:cxnSp>
        <p:nvCxnSpPr>
          <p:cNvPr id="15" name="Straight Connector 14">
            <a:extLst>
              <a:ext uri="{FF2B5EF4-FFF2-40B4-BE49-F238E27FC236}">
                <a16:creationId xmlns:a16="http://schemas.microsoft.com/office/drawing/2014/main" id="{09B0BF5A-34D5-A77E-D005-596430EE4F2B}"/>
              </a:ext>
            </a:extLst>
          </p:cNvPr>
          <p:cNvCxnSpPr>
            <a:cxnSpLocks/>
          </p:cNvCxnSpPr>
          <p:nvPr/>
        </p:nvCxnSpPr>
        <p:spPr>
          <a:xfrm>
            <a:off x="-29250" y="9434721"/>
            <a:ext cx="6868519" cy="0"/>
          </a:xfrm>
          <a:prstGeom prst="line">
            <a:avLst/>
          </a:prstGeom>
          <a:ln w="57150">
            <a:solidFill>
              <a:srgbClr val="F4DF93"/>
            </a:solidFill>
          </a:ln>
        </p:spPr>
        <p:style>
          <a:lnRef idx="2">
            <a:schemeClr val="dk1"/>
          </a:lnRef>
          <a:fillRef idx="0">
            <a:schemeClr val="dk1"/>
          </a:fillRef>
          <a:effectRef idx="1">
            <a:schemeClr val="dk1"/>
          </a:effectRef>
          <a:fontRef idx="minor">
            <a:schemeClr val="tx1"/>
          </a:fontRef>
        </p:style>
      </p:cxnSp>
      <p:sp>
        <p:nvSpPr>
          <p:cNvPr id="19" name="TextBox 18">
            <a:extLst>
              <a:ext uri="{FF2B5EF4-FFF2-40B4-BE49-F238E27FC236}">
                <a16:creationId xmlns:a16="http://schemas.microsoft.com/office/drawing/2014/main" id="{16977BC6-9203-5A98-783C-7ECC7C4D213D}"/>
              </a:ext>
            </a:extLst>
          </p:cNvPr>
          <p:cNvSpPr txBox="1"/>
          <p:nvPr/>
        </p:nvSpPr>
        <p:spPr>
          <a:xfrm>
            <a:off x="3870890" y="6131220"/>
            <a:ext cx="1675207" cy="430887"/>
          </a:xfrm>
          <a:prstGeom prst="rect">
            <a:avLst/>
          </a:prstGeom>
          <a:noFill/>
        </p:spPr>
        <p:txBody>
          <a:bodyPr wrap="square" rtlCol="0">
            <a:spAutoFit/>
          </a:bodyPr>
          <a:lstStyle/>
          <a:p>
            <a:r>
              <a:rPr lang="en-US" sz="1100" dirty="0"/>
              <a:t>Negative P/E Driven by non-operating expenses</a:t>
            </a:r>
          </a:p>
        </p:txBody>
      </p:sp>
      <p:cxnSp>
        <p:nvCxnSpPr>
          <p:cNvPr id="20" name="Straight Arrow Connector 19">
            <a:extLst>
              <a:ext uri="{FF2B5EF4-FFF2-40B4-BE49-F238E27FC236}">
                <a16:creationId xmlns:a16="http://schemas.microsoft.com/office/drawing/2014/main" id="{DDEEC8C3-0393-F689-3A50-224FC26DA734}"/>
              </a:ext>
            </a:extLst>
          </p:cNvPr>
          <p:cNvCxnSpPr>
            <a:cxnSpLocks/>
          </p:cNvCxnSpPr>
          <p:nvPr/>
        </p:nvCxnSpPr>
        <p:spPr>
          <a:xfrm>
            <a:off x="5403409" y="6275299"/>
            <a:ext cx="28537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11798BC4-3BC2-F050-E37F-FB6CB695FEF8}"/>
              </a:ext>
            </a:extLst>
          </p:cNvPr>
          <p:cNvCxnSpPr>
            <a:cxnSpLocks/>
          </p:cNvCxnSpPr>
          <p:nvPr/>
        </p:nvCxnSpPr>
        <p:spPr>
          <a:xfrm>
            <a:off x="145447" y="2935988"/>
            <a:ext cx="2884667" cy="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17603B4C-E0B2-3DA0-DE38-99DA342A064F}"/>
              </a:ext>
            </a:extLst>
          </p:cNvPr>
          <p:cNvSpPr txBox="1"/>
          <p:nvPr/>
        </p:nvSpPr>
        <p:spPr>
          <a:xfrm>
            <a:off x="85211" y="2624659"/>
            <a:ext cx="3558012" cy="923330"/>
          </a:xfrm>
          <a:prstGeom prst="rect">
            <a:avLst/>
          </a:prstGeom>
          <a:noFill/>
        </p:spPr>
        <p:txBody>
          <a:bodyPr wrap="square" rtlCol="0">
            <a:spAutoFit/>
          </a:bodyPr>
          <a:lstStyle/>
          <a:p>
            <a:r>
              <a:rPr lang="en-US" b="1" dirty="0"/>
              <a:t>Industry Overview &amp; Health</a:t>
            </a:r>
          </a:p>
          <a:p>
            <a:endParaRPr lang="en-US" b="1" dirty="0"/>
          </a:p>
          <a:p>
            <a:endParaRPr lang="en-US" b="1" dirty="0"/>
          </a:p>
        </p:txBody>
      </p:sp>
      <p:sp>
        <p:nvSpPr>
          <p:cNvPr id="7" name="TextBox 6">
            <a:extLst>
              <a:ext uri="{FF2B5EF4-FFF2-40B4-BE49-F238E27FC236}">
                <a16:creationId xmlns:a16="http://schemas.microsoft.com/office/drawing/2014/main" id="{2BF4883D-800C-41D3-11D8-7B2B0698A752}"/>
              </a:ext>
            </a:extLst>
          </p:cNvPr>
          <p:cNvSpPr txBox="1"/>
          <p:nvPr/>
        </p:nvSpPr>
        <p:spPr>
          <a:xfrm>
            <a:off x="85211" y="1423651"/>
            <a:ext cx="2259080" cy="369332"/>
          </a:xfrm>
          <a:prstGeom prst="rect">
            <a:avLst/>
          </a:prstGeom>
          <a:noFill/>
        </p:spPr>
        <p:txBody>
          <a:bodyPr wrap="none" rtlCol="0">
            <a:spAutoFit/>
          </a:bodyPr>
          <a:lstStyle/>
          <a:p>
            <a:r>
              <a:rPr lang="en-US" b="1" dirty="0"/>
              <a:t>Executive Summary</a:t>
            </a:r>
          </a:p>
        </p:txBody>
      </p:sp>
      <p:cxnSp>
        <p:nvCxnSpPr>
          <p:cNvPr id="8" name="Straight Connector 7">
            <a:extLst>
              <a:ext uri="{FF2B5EF4-FFF2-40B4-BE49-F238E27FC236}">
                <a16:creationId xmlns:a16="http://schemas.microsoft.com/office/drawing/2014/main" id="{AD3ED415-F92B-05A2-CA61-3CDC54586947}"/>
              </a:ext>
            </a:extLst>
          </p:cNvPr>
          <p:cNvCxnSpPr>
            <a:cxnSpLocks/>
          </p:cNvCxnSpPr>
          <p:nvPr/>
        </p:nvCxnSpPr>
        <p:spPr>
          <a:xfrm>
            <a:off x="145447" y="1739846"/>
            <a:ext cx="2138607"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81E9D1B5-FC4A-1E97-00B1-F6D3E70435A1}"/>
              </a:ext>
            </a:extLst>
          </p:cNvPr>
          <p:cNvCxnSpPr>
            <a:cxnSpLocks/>
          </p:cNvCxnSpPr>
          <p:nvPr/>
        </p:nvCxnSpPr>
        <p:spPr>
          <a:xfrm>
            <a:off x="-1702" y="2614107"/>
            <a:ext cx="6873476" cy="0"/>
          </a:xfrm>
          <a:prstGeom prst="line">
            <a:avLst/>
          </a:prstGeom>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78BA204E-D3F3-A593-2126-B49FB4B85E55}"/>
              </a:ext>
            </a:extLst>
          </p:cNvPr>
          <p:cNvSpPr txBox="1"/>
          <p:nvPr/>
        </p:nvSpPr>
        <p:spPr>
          <a:xfrm>
            <a:off x="98985" y="2935988"/>
            <a:ext cx="3183792" cy="1446550"/>
          </a:xfrm>
          <a:prstGeom prst="rect">
            <a:avLst/>
          </a:prstGeom>
          <a:noFill/>
        </p:spPr>
        <p:txBody>
          <a:bodyPr wrap="square">
            <a:spAutoFit/>
          </a:bodyPr>
          <a:lstStyle/>
          <a:p>
            <a:r>
              <a:rPr lang="en-US" sz="800" dirty="0"/>
              <a:t>The industrials sector—especially tools &amp; accessories and engineered fastening systems—remains in </a:t>
            </a:r>
            <a:r>
              <a:rPr lang="en-US" sz="800" b="1" dirty="0"/>
              <a:t>solid health</a:t>
            </a:r>
            <a:r>
              <a:rPr lang="en-US" sz="800" dirty="0"/>
              <a:t>, supported by </a:t>
            </a:r>
            <a:r>
              <a:rPr lang="en-US" sz="800" b="1" dirty="0"/>
              <a:t>construction and manufacturing demand</a:t>
            </a:r>
            <a:r>
              <a:rPr lang="en-US" sz="800" dirty="0"/>
              <a:t>, though still </a:t>
            </a:r>
            <a:r>
              <a:rPr lang="en-US" sz="800" b="1" dirty="0"/>
              <a:t>cyclical and rate-sensitive</a:t>
            </a:r>
            <a:r>
              <a:rPr lang="en-US" sz="800" dirty="0"/>
              <a:t>.</a:t>
            </a:r>
            <a:r>
              <a:rPr lang="en-US" sz="800" baseline="30000" dirty="0"/>
              <a:t>1</a:t>
            </a:r>
            <a:r>
              <a:rPr lang="en-US" sz="800" dirty="0"/>
              <a:t> Growth is driven by </a:t>
            </a:r>
            <a:r>
              <a:rPr lang="en-US" sz="800" b="1" dirty="0"/>
              <a:t>infrastructure spending</a:t>
            </a:r>
            <a:r>
              <a:rPr lang="en-US" sz="800" dirty="0"/>
              <a:t>, </a:t>
            </a:r>
            <a:r>
              <a:rPr lang="en-US" sz="800" b="1" dirty="0"/>
              <a:t>reshoring</a:t>
            </a:r>
            <a:r>
              <a:rPr lang="en-US" sz="800" dirty="0"/>
              <a:t>, and </a:t>
            </a:r>
            <a:r>
              <a:rPr lang="en-US" sz="800" b="1" dirty="0"/>
              <a:t>electrification</a:t>
            </a:r>
            <a:r>
              <a:rPr lang="en-US" sz="800" dirty="0"/>
              <a:t>, alongside </a:t>
            </a:r>
            <a:r>
              <a:rPr lang="en-US" sz="800" b="1" dirty="0"/>
              <a:t>innovation in cordless tools</a:t>
            </a:r>
            <a:r>
              <a:rPr lang="en-US" sz="800" dirty="0"/>
              <a:t> and </a:t>
            </a:r>
            <a:r>
              <a:rPr lang="en-US" sz="800" b="1" dirty="0"/>
              <a:t>automation</a:t>
            </a:r>
            <a:r>
              <a:rPr lang="en-US" sz="800" dirty="0"/>
              <a:t>, which boost demand and margins. Tools benefit from </a:t>
            </a:r>
            <a:r>
              <a:rPr lang="en-US" sz="800" b="1" dirty="0"/>
              <a:t>recurring aftermarket sales</a:t>
            </a:r>
            <a:r>
              <a:rPr lang="en-US" sz="800" dirty="0"/>
              <a:t>, while fastening systems gain stability from </a:t>
            </a:r>
            <a:r>
              <a:rPr lang="en-US" sz="800" b="1" dirty="0"/>
              <a:t>OEM integration and long-term secular trends</a:t>
            </a:r>
            <a:r>
              <a:rPr lang="en-US" sz="800" dirty="0"/>
              <a:t>. Recent risks include </a:t>
            </a:r>
            <a:r>
              <a:rPr lang="en-US" sz="800" b="1" dirty="0"/>
              <a:t>softening global demand</a:t>
            </a:r>
            <a:r>
              <a:rPr lang="en-US" sz="800" dirty="0"/>
              <a:t>, </a:t>
            </a:r>
            <a:r>
              <a:rPr lang="en-US" sz="800" b="1" dirty="0"/>
              <a:t>inventory destocking</a:t>
            </a:r>
            <a:r>
              <a:rPr lang="en-US" sz="800" dirty="0"/>
              <a:t>, and </a:t>
            </a:r>
            <a:r>
              <a:rPr lang="en-US" sz="800" b="1" dirty="0"/>
              <a:t>persistent interest rate pressure</a:t>
            </a:r>
            <a:r>
              <a:rPr lang="en-US" sz="800" dirty="0"/>
              <a:t>, which may weigh on near-term volumes.</a:t>
            </a:r>
          </a:p>
        </p:txBody>
      </p:sp>
      <p:sp>
        <p:nvSpPr>
          <p:cNvPr id="30" name="TextBox 29">
            <a:extLst>
              <a:ext uri="{FF2B5EF4-FFF2-40B4-BE49-F238E27FC236}">
                <a16:creationId xmlns:a16="http://schemas.microsoft.com/office/drawing/2014/main" id="{CED4800B-7341-28DE-50D4-F0F91E2B8DCA}"/>
              </a:ext>
            </a:extLst>
          </p:cNvPr>
          <p:cNvSpPr txBox="1"/>
          <p:nvPr/>
        </p:nvSpPr>
        <p:spPr>
          <a:xfrm>
            <a:off x="3542536" y="2949505"/>
            <a:ext cx="3183792" cy="1867178"/>
          </a:xfrm>
          <a:prstGeom prst="rect">
            <a:avLst/>
          </a:prstGeom>
          <a:noFill/>
        </p:spPr>
        <p:txBody>
          <a:bodyPr wrap="square">
            <a:spAutoFit/>
          </a:bodyPr>
          <a:lstStyle/>
          <a:p>
            <a:r>
              <a:rPr lang="en-US" sz="800" b="1" dirty="0"/>
              <a:t>Stanley Black &amp; Decker</a:t>
            </a:r>
            <a:r>
              <a:rPr lang="en-US" sz="800" dirty="0"/>
              <a:t>, a leading tool company with well-known brands like </a:t>
            </a:r>
            <a:r>
              <a:rPr lang="en-US" sz="800" b="1" dirty="0"/>
              <a:t>DEWALT</a:t>
            </a:r>
            <a:r>
              <a:rPr lang="en-US" sz="800" dirty="0"/>
              <a:t>,</a:t>
            </a:r>
            <a:r>
              <a:rPr lang="en-US" sz="800" baseline="30000" dirty="0"/>
              <a:t>2</a:t>
            </a:r>
            <a:r>
              <a:rPr lang="en-US" sz="800" dirty="0"/>
              <a:t> offers a clear path for growth supported by </a:t>
            </a:r>
            <a:r>
              <a:rPr lang="en-US" sz="800" b="1" dirty="0"/>
              <a:t>strong fundamental demand</a:t>
            </a:r>
            <a:r>
              <a:rPr lang="en-US" sz="800" dirty="0"/>
              <a:t> across </a:t>
            </a:r>
            <a:r>
              <a:rPr lang="en-US" sz="800" b="1" dirty="0"/>
              <a:t>residential, commercial, and global infrastructure and agriculture sectors</a:t>
            </a:r>
            <a:r>
              <a:rPr lang="en-US" sz="800" dirty="0"/>
              <a:t>. The </a:t>
            </a:r>
            <a:r>
              <a:rPr lang="en-US" sz="800" b="1" dirty="0"/>
              <a:t>U.S. faces a housing shortage of 3.8 million homes⁶</a:t>
            </a:r>
            <a:r>
              <a:rPr lang="en-US" sz="800" dirty="0"/>
              <a:t>, while the </a:t>
            </a:r>
            <a:r>
              <a:rPr lang="en-US" sz="800" b="1" dirty="0"/>
              <a:t>median housing stock age of 44 years⁵</a:t>
            </a:r>
            <a:r>
              <a:rPr lang="en-US" sz="800" dirty="0"/>
              <a:t> drives repair and remodel work, and an estimated </a:t>
            </a:r>
            <a:r>
              <a:rPr lang="en-US" sz="800" b="1" dirty="0"/>
              <a:t>$97 trillion in global infrastructure investment by 2040³</a:t>
            </a:r>
            <a:r>
              <a:rPr lang="en-US" sz="800" dirty="0"/>
              <a:t> highlights the large market opportunity.</a:t>
            </a:r>
          </a:p>
          <a:p>
            <a:pPr>
              <a:lnSpc>
                <a:spcPts val="400"/>
              </a:lnSpc>
            </a:pPr>
            <a:endParaRPr lang="en-US" sz="900" dirty="0"/>
          </a:p>
          <a:p>
            <a:r>
              <a:rPr lang="en-US" sz="800" dirty="0"/>
              <a:t>The company’s </a:t>
            </a:r>
            <a:r>
              <a:rPr lang="en-US" sz="800" b="1" dirty="0"/>
              <a:t>products are innovative and award-winning</a:t>
            </a:r>
            <a:r>
              <a:rPr lang="en-US" sz="800" dirty="0"/>
              <a:t>, focused on </a:t>
            </a:r>
            <a:r>
              <a:rPr lang="en-US" sz="800" b="1" dirty="0"/>
              <a:t>efficiency, safety, and electrification trends</a:t>
            </a:r>
            <a:r>
              <a:rPr lang="en-US" sz="800" dirty="0"/>
              <a:t>. Stanley Black &amp; Decker issues </a:t>
            </a:r>
            <a:r>
              <a:rPr lang="en-US" sz="800" b="1" dirty="0"/>
              <a:t>over 1,000 patents annually¹⁴</a:t>
            </a:r>
            <a:r>
              <a:rPr lang="en-US" sz="800" dirty="0"/>
              <a:t>, won </a:t>
            </a:r>
            <a:r>
              <a:rPr lang="en-US" sz="800" b="1" dirty="0"/>
              <a:t>10 Red Dot Awards in 2024¹³</a:t>
            </a:r>
            <a:r>
              <a:rPr lang="en-US" sz="800" dirty="0"/>
              <a:t>, and received </a:t>
            </a:r>
            <a:r>
              <a:rPr lang="en-US" sz="800" b="1" dirty="0"/>
              <a:t>five Popular Mechanics Tool Awards in 2025¹²</a:t>
            </a:r>
            <a:r>
              <a:rPr lang="en-US" sz="800" dirty="0"/>
              <a:t>, including its </a:t>
            </a:r>
            <a:r>
              <a:rPr lang="en-US" sz="800" b="1" dirty="0"/>
              <a:t>Best Performing Line</a:t>
            </a:r>
            <a:r>
              <a:rPr lang="en-US" sz="800" dirty="0"/>
              <a:t>, reinforcing its leadership in both product design and market relevance.</a:t>
            </a:r>
          </a:p>
        </p:txBody>
      </p:sp>
      <p:cxnSp>
        <p:nvCxnSpPr>
          <p:cNvPr id="31" name="Straight Connector 30">
            <a:extLst>
              <a:ext uri="{FF2B5EF4-FFF2-40B4-BE49-F238E27FC236}">
                <a16:creationId xmlns:a16="http://schemas.microsoft.com/office/drawing/2014/main" id="{992475E6-C6A4-DF88-2289-DA2C59A3142E}"/>
              </a:ext>
            </a:extLst>
          </p:cNvPr>
          <p:cNvCxnSpPr>
            <a:cxnSpLocks/>
          </p:cNvCxnSpPr>
          <p:nvPr/>
        </p:nvCxnSpPr>
        <p:spPr>
          <a:xfrm>
            <a:off x="3602772" y="2935988"/>
            <a:ext cx="2884667" cy="0"/>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3026737A-640B-0DAF-60E2-7EEA026F1C28}"/>
              </a:ext>
            </a:extLst>
          </p:cNvPr>
          <p:cNvSpPr txBox="1"/>
          <p:nvPr/>
        </p:nvSpPr>
        <p:spPr>
          <a:xfrm>
            <a:off x="3516908" y="2631922"/>
            <a:ext cx="3558012" cy="923330"/>
          </a:xfrm>
          <a:prstGeom prst="rect">
            <a:avLst/>
          </a:prstGeom>
          <a:noFill/>
        </p:spPr>
        <p:txBody>
          <a:bodyPr wrap="square" rtlCol="0">
            <a:spAutoFit/>
          </a:bodyPr>
          <a:lstStyle/>
          <a:p>
            <a:r>
              <a:rPr lang="en-US" b="1" dirty="0"/>
              <a:t>Company Overview</a:t>
            </a:r>
          </a:p>
          <a:p>
            <a:endParaRPr lang="en-US" b="1" dirty="0"/>
          </a:p>
          <a:p>
            <a:endParaRPr lang="en-US" b="1" dirty="0"/>
          </a:p>
        </p:txBody>
      </p:sp>
      <p:cxnSp>
        <p:nvCxnSpPr>
          <p:cNvPr id="33" name="Straight Connector 32">
            <a:extLst>
              <a:ext uri="{FF2B5EF4-FFF2-40B4-BE49-F238E27FC236}">
                <a16:creationId xmlns:a16="http://schemas.microsoft.com/office/drawing/2014/main" id="{A5B83D90-26FF-7354-12D2-FA80548D3B6C}"/>
              </a:ext>
            </a:extLst>
          </p:cNvPr>
          <p:cNvCxnSpPr>
            <a:cxnSpLocks/>
          </p:cNvCxnSpPr>
          <p:nvPr/>
        </p:nvCxnSpPr>
        <p:spPr>
          <a:xfrm>
            <a:off x="145446" y="5251672"/>
            <a:ext cx="2452281" cy="0"/>
          </a:xfrm>
          <a:prstGeom prst="line">
            <a:avLst/>
          </a:prstGeom>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D6D8A960-6091-8F5B-A4FD-6E6450090554}"/>
              </a:ext>
            </a:extLst>
          </p:cNvPr>
          <p:cNvSpPr txBox="1"/>
          <p:nvPr/>
        </p:nvSpPr>
        <p:spPr>
          <a:xfrm>
            <a:off x="85211" y="4940343"/>
            <a:ext cx="3042452" cy="1785104"/>
          </a:xfrm>
          <a:prstGeom prst="rect">
            <a:avLst/>
          </a:prstGeom>
          <a:noFill/>
        </p:spPr>
        <p:txBody>
          <a:bodyPr wrap="square" rtlCol="0">
            <a:spAutoFit/>
          </a:bodyPr>
          <a:lstStyle/>
          <a:p>
            <a:r>
              <a:rPr lang="en-US" b="1" dirty="0"/>
              <a:t>Supply Chain Recovery</a:t>
            </a:r>
          </a:p>
          <a:p>
            <a:r>
              <a:rPr lang="en-US" sz="800" dirty="0"/>
              <a:t>Causes of supply chain disruptions and working capital challenges are in the past. COVID had many impacts on the world with dramatically increased costs of inventory and delivery delays. Yet, 2023 inventory reduction of approx. 29% from Q2 2022 peak.</a:t>
            </a:r>
            <a:r>
              <a:rPr lang="en-US" sz="800" baseline="30000" dirty="0"/>
              <a:t>4 </a:t>
            </a:r>
            <a:r>
              <a:rPr lang="en-US" sz="800" dirty="0"/>
              <a:t>Even during the 2021 gross inventory expansion, revenue and operating profit expanded.</a:t>
            </a:r>
            <a:r>
              <a:rPr lang="en-US" sz="800" baseline="30000" dirty="0"/>
              <a:t>4 </a:t>
            </a:r>
            <a:r>
              <a:rPr lang="en-US" sz="800" dirty="0"/>
              <a:t>Aggressive goals on supply chain savings are continually progressing today.</a:t>
            </a:r>
            <a:r>
              <a:rPr lang="en-US" sz="800" baseline="30000" dirty="0"/>
              <a:t>4</a:t>
            </a:r>
          </a:p>
          <a:p>
            <a:endParaRPr lang="en-US" b="1" dirty="0"/>
          </a:p>
          <a:p>
            <a:endParaRPr lang="en-US" b="1" dirty="0"/>
          </a:p>
        </p:txBody>
      </p:sp>
      <p:cxnSp>
        <p:nvCxnSpPr>
          <p:cNvPr id="36" name="Straight Connector 35">
            <a:extLst>
              <a:ext uri="{FF2B5EF4-FFF2-40B4-BE49-F238E27FC236}">
                <a16:creationId xmlns:a16="http://schemas.microsoft.com/office/drawing/2014/main" id="{CACF41BF-CB95-8E58-6D1B-B1CEFC6041E2}"/>
              </a:ext>
            </a:extLst>
          </p:cNvPr>
          <p:cNvCxnSpPr>
            <a:cxnSpLocks/>
          </p:cNvCxnSpPr>
          <p:nvPr/>
        </p:nvCxnSpPr>
        <p:spPr>
          <a:xfrm>
            <a:off x="156449" y="6965784"/>
            <a:ext cx="2187842" cy="0"/>
          </a:xfrm>
          <a:prstGeom prst="line">
            <a:avLst/>
          </a:prstGeom>
        </p:spPr>
        <p:style>
          <a:lnRef idx="2">
            <a:schemeClr val="dk1"/>
          </a:lnRef>
          <a:fillRef idx="0">
            <a:schemeClr val="dk1"/>
          </a:fillRef>
          <a:effectRef idx="1">
            <a:schemeClr val="dk1"/>
          </a:effectRef>
          <a:fontRef idx="minor">
            <a:schemeClr val="tx1"/>
          </a:fontRef>
        </p:style>
      </p:cxnSp>
      <p:sp>
        <p:nvSpPr>
          <p:cNvPr id="37" name="TextBox 36">
            <a:extLst>
              <a:ext uri="{FF2B5EF4-FFF2-40B4-BE49-F238E27FC236}">
                <a16:creationId xmlns:a16="http://schemas.microsoft.com/office/drawing/2014/main" id="{A399C3D5-582F-58D6-3886-E548CB652C63}"/>
              </a:ext>
            </a:extLst>
          </p:cNvPr>
          <p:cNvSpPr txBox="1"/>
          <p:nvPr/>
        </p:nvSpPr>
        <p:spPr>
          <a:xfrm>
            <a:off x="98985" y="6672858"/>
            <a:ext cx="3305383" cy="3385542"/>
          </a:xfrm>
          <a:prstGeom prst="rect">
            <a:avLst/>
          </a:prstGeom>
          <a:noFill/>
        </p:spPr>
        <p:txBody>
          <a:bodyPr wrap="square" rtlCol="0">
            <a:spAutoFit/>
          </a:bodyPr>
          <a:lstStyle/>
          <a:p>
            <a:r>
              <a:rPr lang="en-US" b="1" dirty="0"/>
              <a:t>Strategic Positioning </a:t>
            </a:r>
          </a:p>
          <a:p>
            <a:r>
              <a:rPr lang="en-US" sz="800" dirty="0"/>
              <a:t>Management re-alignment and re-focusing has occurred. Leaders such as the CEO appointed in 2022, executed a company transformation. Refreshed leaders also include the CRHO in 2024, the CFO &amp; COO, who is now the acting CEO, in 2023; the CSCO in 2022. Significant acquisition and divestment as part of commitment to simplify and streamline the business has occurred.</a:t>
            </a:r>
            <a:r>
              <a:rPr lang="en-US" sz="800" baseline="30000" dirty="0"/>
              <a:t>4 </a:t>
            </a:r>
            <a:r>
              <a:rPr lang="en-US" sz="800" dirty="0"/>
              <a:t>Overall, the commitment to innovation, cost control, and cash flow were emphasized in the annual report</a:t>
            </a:r>
            <a:r>
              <a:rPr lang="en-US" sz="800" baseline="30000" dirty="0"/>
              <a:t>4</a:t>
            </a:r>
          </a:p>
          <a:p>
            <a:endParaRPr lang="en-US" sz="400" dirty="0"/>
          </a:p>
          <a:p>
            <a:r>
              <a:rPr lang="en-US" sz="800" dirty="0"/>
              <a:t>SWK is also “investing $30M over five years to fund vocational training and reskilling in construction, aiming to close the trade skills gap and strengthen the industry,” </a:t>
            </a:r>
            <a:r>
              <a:rPr lang="en-US" sz="800" baseline="30000" dirty="0"/>
              <a:t>8  </a:t>
            </a:r>
            <a:r>
              <a:rPr lang="en-US" sz="800" dirty="0"/>
              <a:t>with 70 reward recipients in 2024.</a:t>
            </a:r>
            <a:r>
              <a:rPr lang="en-US" sz="800" baseline="30000" dirty="0"/>
              <a:t>7</a:t>
            </a:r>
          </a:p>
          <a:p>
            <a:endParaRPr lang="en-US" sz="400" dirty="0"/>
          </a:p>
          <a:p>
            <a:r>
              <a:rPr lang="en-US" sz="800" dirty="0"/>
              <a:t>Free cash flow is now positive</a:t>
            </a:r>
            <a:r>
              <a:rPr lang="en-US" sz="800" baseline="30000" dirty="0"/>
              <a:t>. </a:t>
            </a:r>
            <a:r>
              <a:rPr lang="en-US" sz="800" dirty="0"/>
              <a:t>‘23’s net income loss primarily related to business restructuring costs and non-cash asset impairments, not to the operations. ‘24’s net income loss stems from non-cash environmental charges and restructuring charges. Furthermore, SWK has had an uninterrupted dividend for decades</a:t>
            </a:r>
            <a:r>
              <a:rPr lang="en-US" sz="800" baseline="30000" dirty="0"/>
              <a:t>9</a:t>
            </a:r>
          </a:p>
          <a:p>
            <a:endParaRPr lang="en-US" sz="800" dirty="0"/>
          </a:p>
          <a:p>
            <a:endParaRPr lang="en-US" sz="800" dirty="0"/>
          </a:p>
          <a:p>
            <a:endParaRPr lang="en-US" b="1" dirty="0"/>
          </a:p>
          <a:p>
            <a:endParaRPr lang="en-US" b="1" dirty="0"/>
          </a:p>
        </p:txBody>
      </p:sp>
      <p:sp>
        <p:nvSpPr>
          <p:cNvPr id="2" name="TextBox 1">
            <a:extLst>
              <a:ext uri="{FF2B5EF4-FFF2-40B4-BE49-F238E27FC236}">
                <a16:creationId xmlns:a16="http://schemas.microsoft.com/office/drawing/2014/main" id="{FB843935-E8B6-C9E5-835F-63E43BC6D6A3}"/>
              </a:ext>
            </a:extLst>
          </p:cNvPr>
          <p:cNvSpPr txBox="1"/>
          <p:nvPr/>
        </p:nvSpPr>
        <p:spPr>
          <a:xfrm>
            <a:off x="262934" y="1069829"/>
            <a:ext cx="6947452" cy="307777"/>
          </a:xfrm>
          <a:prstGeom prst="rect">
            <a:avLst/>
          </a:prstGeom>
          <a:noFill/>
        </p:spPr>
        <p:txBody>
          <a:bodyPr wrap="square" rtlCol="0">
            <a:spAutoFit/>
          </a:bodyPr>
          <a:lstStyle/>
          <a:p>
            <a:r>
              <a:rPr lang="en-US" sz="1400" dirty="0"/>
              <a:t>Price: 71.11         MKT CAP: 11B        Price Target: 90.73        Implied Upside: 27.59%</a:t>
            </a:r>
          </a:p>
        </p:txBody>
      </p:sp>
      <p:sp>
        <p:nvSpPr>
          <p:cNvPr id="22" name="TextBox 21">
            <a:extLst>
              <a:ext uri="{FF2B5EF4-FFF2-40B4-BE49-F238E27FC236}">
                <a16:creationId xmlns:a16="http://schemas.microsoft.com/office/drawing/2014/main" id="{8333D14C-F161-0EE0-D50D-C872285347BE}"/>
              </a:ext>
            </a:extLst>
          </p:cNvPr>
          <p:cNvSpPr txBox="1"/>
          <p:nvPr/>
        </p:nvSpPr>
        <p:spPr>
          <a:xfrm>
            <a:off x="5205340" y="5033606"/>
            <a:ext cx="219932" cy="133370"/>
          </a:xfrm>
          <a:prstGeom prst="rect">
            <a:avLst/>
          </a:prstGeom>
          <a:noFill/>
        </p:spPr>
        <p:txBody>
          <a:bodyPr wrap="none" rtlCol="0">
            <a:spAutoFit/>
          </a:bodyPr>
          <a:lstStyle/>
          <a:p>
            <a:r>
              <a:rPr lang="en-US" sz="400" baseline="30000" dirty="0"/>
              <a:t>10</a:t>
            </a:r>
          </a:p>
        </p:txBody>
      </p:sp>
      <p:pic>
        <p:nvPicPr>
          <p:cNvPr id="24" name="Picture 23">
            <a:extLst>
              <a:ext uri="{FF2B5EF4-FFF2-40B4-BE49-F238E27FC236}">
                <a16:creationId xmlns:a16="http://schemas.microsoft.com/office/drawing/2014/main" id="{A244174D-925B-016F-BE0A-46A0312D6FD3}"/>
              </a:ext>
            </a:extLst>
          </p:cNvPr>
          <p:cNvPicPr>
            <a:picLocks noChangeAspect="1"/>
          </p:cNvPicPr>
          <p:nvPr/>
        </p:nvPicPr>
        <p:blipFill>
          <a:blip r:embed="rId3"/>
          <a:stretch>
            <a:fillRect/>
          </a:stretch>
        </p:blipFill>
        <p:spPr>
          <a:xfrm>
            <a:off x="3468167" y="7133049"/>
            <a:ext cx="3342276" cy="1981493"/>
          </a:xfrm>
          <a:prstGeom prst="rect">
            <a:avLst/>
          </a:prstGeom>
        </p:spPr>
      </p:pic>
    </p:spTree>
    <p:extLst>
      <p:ext uri="{BB962C8B-B14F-4D97-AF65-F5344CB8AC3E}">
        <p14:creationId xmlns:p14="http://schemas.microsoft.com/office/powerpoint/2010/main" val="469496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3118-06CF-CE77-A0B8-9839436573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F668A4B-1E18-1FAF-9234-89D1D5C7AA21}"/>
              </a:ext>
            </a:extLst>
          </p:cNvPr>
          <p:cNvSpPr>
            <a:spLocks noGrp="1"/>
          </p:cNvSpPr>
          <p:nvPr>
            <p:ph type="ctrTitle"/>
          </p:nvPr>
        </p:nvSpPr>
        <p:spPr>
          <a:xfrm>
            <a:off x="-15476" y="192267"/>
            <a:ext cx="6947452" cy="664824"/>
          </a:xfrm>
        </p:spPr>
        <p:txBody>
          <a:bodyPr>
            <a:normAutofit/>
          </a:bodyPr>
          <a:lstStyle/>
          <a:p>
            <a:pPr algn="l"/>
            <a:r>
              <a:rPr lang="en-US" sz="3200" b="1" dirty="0"/>
              <a:t>Caterpillar (NYSE: CAT)</a:t>
            </a:r>
          </a:p>
        </p:txBody>
      </p:sp>
      <p:sp>
        <p:nvSpPr>
          <p:cNvPr id="6" name="Rectangle 5">
            <a:extLst>
              <a:ext uri="{FF2B5EF4-FFF2-40B4-BE49-F238E27FC236}">
                <a16:creationId xmlns:a16="http://schemas.microsoft.com/office/drawing/2014/main" id="{EC835244-85E4-AA42-F5B1-35EB8EF0A7A0}"/>
              </a:ext>
            </a:extLst>
          </p:cNvPr>
          <p:cNvSpPr/>
          <p:nvPr/>
        </p:nvSpPr>
        <p:spPr>
          <a:xfrm>
            <a:off x="0" y="991098"/>
            <a:ext cx="6858000" cy="425290"/>
          </a:xfrm>
          <a:prstGeom prst="rect">
            <a:avLst/>
          </a:prstGeom>
          <a:solidFill>
            <a:srgbClr val="FFC4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A85CE6-6EFB-71D0-F721-9B69636233AE}"/>
              </a:ext>
            </a:extLst>
          </p:cNvPr>
          <p:cNvSpPr txBox="1"/>
          <p:nvPr/>
        </p:nvSpPr>
        <p:spPr>
          <a:xfrm>
            <a:off x="85211" y="1765883"/>
            <a:ext cx="6718872" cy="830997"/>
          </a:xfrm>
          <a:prstGeom prst="rect">
            <a:avLst/>
          </a:prstGeom>
          <a:noFill/>
          <a:ln>
            <a:noFill/>
          </a:ln>
        </p:spPr>
        <p:txBody>
          <a:bodyPr wrap="square" lIns="91440" tIns="45720" rIns="91440" bIns="45720" rtlCol="0" anchor="t">
            <a:spAutoFit/>
          </a:bodyPr>
          <a:lstStyle/>
          <a:p>
            <a:r>
              <a:rPr lang="en-US" sz="1200" b="1" dirty="0"/>
              <a:t>Caterpillar is a leader in industrial machinery, strategically positioned in essential sectors like construction, mining, and energy. By focusing on high-margin services and parts alongside its global reach, the company drives recurring revenue, strengthens customer loyalty, and maintains resilience against market cycles.</a:t>
            </a:r>
          </a:p>
        </p:txBody>
      </p:sp>
      <p:sp>
        <p:nvSpPr>
          <p:cNvPr id="14" name="TextBox 13">
            <a:extLst>
              <a:ext uri="{FF2B5EF4-FFF2-40B4-BE49-F238E27FC236}">
                <a16:creationId xmlns:a16="http://schemas.microsoft.com/office/drawing/2014/main" id="{18A9700B-2429-B8E1-1D7C-EE9B3A760D9A}"/>
              </a:ext>
            </a:extLst>
          </p:cNvPr>
          <p:cNvSpPr txBox="1"/>
          <p:nvPr/>
        </p:nvSpPr>
        <p:spPr>
          <a:xfrm>
            <a:off x="0" y="9693362"/>
            <a:ext cx="6858000"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00" b="1" dirty="0"/>
              <a:t>Sources</a:t>
            </a:r>
            <a:r>
              <a:rPr lang="en-US" sz="500" dirty="0"/>
              <a:t>: </a:t>
            </a:r>
            <a:r>
              <a:rPr lang="en-US" altLang="en-US" sz="500" b="1" i="1" dirty="0"/>
              <a:t>1</a:t>
            </a:r>
            <a:r>
              <a:rPr lang="en-US" altLang="en-US" sz="500" i="1" dirty="0"/>
              <a:t>: Top 10 Machinery Manufacturers, </a:t>
            </a:r>
            <a:r>
              <a:rPr lang="en-US" altLang="en-US" sz="500" b="1" i="1" dirty="0"/>
              <a:t>2</a:t>
            </a:r>
            <a:r>
              <a:rPr lang="en-US" altLang="en-US" sz="500" i="1" dirty="0"/>
              <a:t>: Industrial Engine Market Size &amp; Share </a:t>
            </a:r>
            <a:r>
              <a:rPr lang="en-US" altLang="en-US" sz="500" dirty="0"/>
              <a:t>and heavy‑duty applications, </a:t>
            </a:r>
            <a:r>
              <a:rPr lang="en-US" altLang="en-US" sz="500" b="1" dirty="0"/>
              <a:t>3</a:t>
            </a:r>
            <a:r>
              <a:rPr lang="en-US" altLang="en-US" sz="500" dirty="0"/>
              <a:t>: </a:t>
            </a:r>
            <a:r>
              <a:rPr lang="en-US" altLang="en-US" sz="500" i="1" dirty="0"/>
              <a:t>Diesel Industrial Engine Market Trends Report, </a:t>
            </a:r>
            <a:r>
              <a:rPr lang="en-US" sz="500" b="1" dirty="0"/>
              <a:t>4</a:t>
            </a:r>
            <a:r>
              <a:rPr lang="en-US" sz="500" dirty="0"/>
              <a:t>: </a:t>
            </a:r>
            <a:r>
              <a:rPr lang="en-US" sz="500" i="1" dirty="0"/>
              <a:t>Caterpillar at a Glance</a:t>
            </a:r>
            <a:r>
              <a:rPr lang="en-US" sz="500" dirty="0"/>
              <a:t> (caterpillar.com), </a:t>
            </a:r>
            <a:r>
              <a:rPr lang="en-US" sz="500" b="1" dirty="0"/>
              <a:t>5</a:t>
            </a:r>
            <a:r>
              <a:rPr lang="en-US" sz="500" dirty="0"/>
              <a:t>: </a:t>
            </a:r>
            <a:r>
              <a:rPr lang="en-US" sz="500" i="1" dirty="0"/>
              <a:t>Caterpillar’s Strategy &amp; Purpose</a:t>
            </a:r>
            <a:r>
              <a:rPr lang="en-US" sz="500" dirty="0"/>
              <a:t> (caterpillar.com), </a:t>
            </a:r>
            <a:r>
              <a:rPr lang="en-US" sz="500" b="1" dirty="0"/>
              <a:t>6</a:t>
            </a:r>
            <a:r>
              <a:rPr lang="en-US" sz="500" dirty="0"/>
              <a:t>: </a:t>
            </a:r>
            <a:r>
              <a:rPr lang="en-US" sz="500" i="1" dirty="0"/>
              <a:t>Caterpillar SWOT Analysis &amp; Strategic Plan 2025‑Q3</a:t>
            </a:r>
            <a:r>
              <a:rPr lang="en-US" sz="500" dirty="0"/>
              <a:t> (swotanalysis.com), </a:t>
            </a:r>
            <a:r>
              <a:rPr lang="en-US" sz="500" b="1" dirty="0"/>
              <a:t>7</a:t>
            </a:r>
            <a:r>
              <a:rPr lang="en-US" sz="500" dirty="0"/>
              <a:t>: Caterpillar Investor Relations (Services Growth Strategy), </a:t>
            </a:r>
            <a:r>
              <a:rPr lang="en-US" sz="500" b="1" dirty="0"/>
              <a:t>8</a:t>
            </a:r>
            <a:r>
              <a:rPr lang="en-US" sz="500" dirty="0"/>
              <a:t>: Investing.com (Q4 2025 Earnings Analysis), </a:t>
            </a:r>
            <a:r>
              <a:rPr lang="en-US" sz="500" b="1" dirty="0"/>
              <a:t>9</a:t>
            </a:r>
            <a:r>
              <a:rPr lang="en-US" sz="500" dirty="0"/>
              <a:t>: The Motley Fool (Caterpillar Aftermarket Review), </a:t>
            </a:r>
            <a:r>
              <a:rPr lang="en-US" sz="500" b="1" dirty="0"/>
              <a:t>10</a:t>
            </a:r>
            <a:r>
              <a:rPr lang="en-US" sz="500" dirty="0"/>
              <a:t>: Caterpillar Inc. (Official 2025 Financial Results), </a:t>
            </a:r>
            <a:r>
              <a:rPr lang="en-US" sz="500" b="1" dirty="0"/>
              <a:t>11</a:t>
            </a:r>
            <a:r>
              <a:rPr lang="en-US" sz="500" dirty="0"/>
              <a:t>: Holland &amp; Knight / </a:t>
            </a:r>
            <a:r>
              <a:rPr lang="en-US" sz="500" dirty="0" err="1"/>
              <a:t>MarketMinute</a:t>
            </a:r>
            <a:r>
              <a:rPr lang="en-US" sz="500" dirty="0"/>
              <a:t> (Legal Update), </a:t>
            </a:r>
            <a:r>
              <a:rPr lang="en-US" sz="500" b="1" dirty="0"/>
              <a:t>12</a:t>
            </a:r>
            <a:r>
              <a:rPr lang="en-US" sz="500" dirty="0"/>
              <a:t>: Zacks Investment Research (April 2026 Analyst Update), </a:t>
            </a:r>
            <a:r>
              <a:rPr lang="en-US" sz="500" b="1" dirty="0"/>
              <a:t>13</a:t>
            </a:r>
            <a:r>
              <a:rPr lang="en-US" sz="500" dirty="0"/>
              <a:t>: investors.caterpillar.com</a:t>
            </a:r>
            <a:endParaRPr lang="en-US" dirty="0"/>
          </a:p>
        </p:txBody>
      </p:sp>
      <p:cxnSp>
        <p:nvCxnSpPr>
          <p:cNvPr id="15" name="Straight Connector 14">
            <a:extLst>
              <a:ext uri="{FF2B5EF4-FFF2-40B4-BE49-F238E27FC236}">
                <a16:creationId xmlns:a16="http://schemas.microsoft.com/office/drawing/2014/main" id="{C5CC36D2-DD0B-AF8B-2CC3-3CBF84DC9202}"/>
              </a:ext>
            </a:extLst>
          </p:cNvPr>
          <p:cNvCxnSpPr>
            <a:cxnSpLocks/>
          </p:cNvCxnSpPr>
          <p:nvPr/>
        </p:nvCxnSpPr>
        <p:spPr>
          <a:xfrm>
            <a:off x="3255" y="9693362"/>
            <a:ext cx="6868519" cy="0"/>
          </a:xfrm>
          <a:prstGeom prst="line">
            <a:avLst/>
          </a:prstGeom>
          <a:ln w="57150">
            <a:solidFill>
              <a:srgbClr val="FFC400"/>
            </a:solidFill>
          </a:ln>
        </p:spPr>
        <p:style>
          <a:lnRef idx="2">
            <a:schemeClr val="dk1"/>
          </a:lnRef>
          <a:fillRef idx="0">
            <a:schemeClr val="dk1"/>
          </a:fillRef>
          <a:effectRef idx="1">
            <a:schemeClr val="dk1"/>
          </a:effectRef>
          <a:fontRef idx="minor">
            <a:schemeClr val="tx1"/>
          </a:fontRef>
        </p:style>
      </p:cxnSp>
      <p:cxnSp>
        <p:nvCxnSpPr>
          <p:cNvPr id="3" name="Straight Connector 2">
            <a:extLst>
              <a:ext uri="{FF2B5EF4-FFF2-40B4-BE49-F238E27FC236}">
                <a16:creationId xmlns:a16="http://schemas.microsoft.com/office/drawing/2014/main" id="{AFA669C9-BAD2-F64C-3909-40F7B39B29FA}"/>
              </a:ext>
            </a:extLst>
          </p:cNvPr>
          <p:cNvCxnSpPr>
            <a:cxnSpLocks/>
          </p:cNvCxnSpPr>
          <p:nvPr/>
        </p:nvCxnSpPr>
        <p:spPr>
          <a:xfrm>
            <a:off x="145447" y="2935988"/>
            <a:ext cx="2884667" cy="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E6844BC7-8B1F-29B5-03AD-3FF80DF7CB07}"/>
              </a:ext>
            </a:extLst>
          </p:cNvPr>
          <p:cNvSpPr txBox="1"/>
          <p:nvPr/>
        </p:nvSpPr>
        <p:spPr>
          <a:xfrm>
            <a:off x="85211" y="2624659"/>
            <a:ext cx="3558012" cy="923330"/>
          </a:xfrm>
          <a:prstGeom prst="rect">
            <a:avLst/>
          </a:prstGeom>
          <a:noFill/>
        </p:spPr>
        <p:txBody>
          <a:bodyPr wrap="square" rtlCol="0">
            <a:spAutoFit/>
          </a:bodyPr>
          <a:lstStyle/>
          <a:p>
            <a:r>
              <a:rPr lang="en-US" b="1" dirty="0"/>
              <a:t>Industry Overview &amp; Health</a:t>
            </a:r>
          </a:p>
          <a:p>
            <a:endParaRPr lang="en-US" b="1" dirty="0"/>
          </a:p>
          <a:p>
            <a:endParaRPr lang="en-US" b="1" dirty="0"/>
          </a:p>
        </p:txBody>
      </p:sp>
      <p:sp>
        <p:nvSpPr>
          <p:cNvPr id="7" name="TextBox 6">
            <a:extLst>
              <a:ext uri="{FF2B5EF4-FFF2-40B4-BE49-F238E27FC236}">
                <a16:creationId xmlns:a16="http://schemas.microsoft.com/office/drawing/2014/main" id="{5DC58A30-E242-A689-AF2D-49F13A33D049}"/>
              </a:ext>
            </a:extLst>
          </p:cNvPr>
          <p:cNvSpPr txBox="1"/>
          <p:nvPr/>
        </p:nvSpPr>
        <p:spPr>
          <a:xfrm>
            <a:off x="85211" y="1423651"/>
            <a:ext cx="2259080" cy="369332"/>
          </a:xfrm>
          <a:prstGeom prst="rect">
            <a:avLst/>
          </a:prstGeom>
          <a:noFill/>
        </p:spPr>
        <p:txBody>
          <a:bodyPr wrap="none" rtlCol="0">
            <a:spAutoFit/>
          </a:bodyPr>
          <a:lstStyle/>
          <a:p>
            <a:r>
              <a:rPr lang="en-US" b="1" dirty="0"/>
              <a:t>Executive Summary</a:t>
            </a:r>
          </a:p>
        </p:txBody>
      </p:sp>
      <p:cxnSp>
        <p:nvCxnSpPr>
          <p:cNvPr id="8" name="Straight Connector 7">
            <a:extLst>
              <a:ext uri="{FF2B5EF4-FFF2-40B4-BE49-F238E27FC236}">
                <a16:creationId xmlns:a16="http://schemas.microsoft.com/office/drawing/2014/main" id="{A0818636-03DC-C0B4-B25A-4909A19DD1EB}"/>
              </a:ext>
            </a:extLst>
          </p:cNvPr>
          <p:cNvCxnSpPr>
            <a:cxnSpLocks/>
          </p:cNvCxnSpPr>
          <p:nvPr/>
        </p:nvCxnSpPr>
        <p:spPr>
          <a:xfrm>
            <a:off x="145447" y="1739846"/>
            <a:ext cx="2138607"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BF4E7396-D129-B55A-C6E7-BAA47B1C911E}"/>
              </a:ext>
            </a:extLst>
          </p:cNvPr>
          <p:cNvCxnSpPr>
            <a:cxnSpLocks/>
          </p:cNvCxnSpPr>
          <p:nvPr/>
        </p:nvCxnSpPr>
        <p:spPr>
          <a:xfrm>
            <a:off x="-1702" y="2614107"/>
            <a:ext cx="6873476" cy="0"/>
          </a:xfrm>
          <a:prstGeom prst="line">
            <a:avLst/>
          </a:prstGeom>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5C26F40C-9B60-92A3-2147-4A5AF6D05250}"/>
              </a:ext>
            </a:extLst>
          </p:cNvPr>
          <p:cNvSpPr txBox="1"/>
          <p:nvPr/>
        </p:nvSpPr>
        <p:spPr>
          <a:xfrm>
            <a:off x="98985" y="2935988"/>
            <a:ext cx="3183792" cy="1384995"/>
          </a:xfrm>
          <a:prstGeom prst="rect">
            <a:avLst/>
          </a:prstGeom>
          <a:noFill/>
        </p:spPr>
        <p:txBody>
          <a:bodyPr wrap="square">
            <a:spAutoFit/>
          </a:bodyPr>
          <a:lstStyle/>
          <a:p>
            <a:r>
              <a:rPr lang="en-US" sz="700" dirty="0"/>
              <a:t>The industrial machinery sector includes manufacturers of </a:t>
            </a:r>
            <a:r>
              <a:rPr lang="en-US" sz="700" b="1" dirty="0"/>
              <a:t>construction and mining equipment, diesel and natural gas engines, industrial gas turbines, and diesel‑electric locomotives</a:t>
            </a:r>
            <a:r>
              <a:rPr lang="en-US" sz="700" dirty="0"/>
              <a:t> that supply essential heavy machinery and power solutions used in infrastructure, mining, and transportation globally¹. Demand in this sector is supported by </a:t>
            </a:r>
            <a:r>
              <a:rPr lang="en-US" sz="700" b="1" dirty="0"/>
              <a:t>growth in construction, mining, and industrial engine applications</a:t>
            </a:r>
            <a:r>
              <a:rPr lang="en-US" sz="700" dirty="0"/>
              <a:t>, with the industrial engine market expanding as heavy‑duty machinery continues to be deployed in infrastructure projects and mechanized operations². Diesel and industrial engines remain central to heavy equipment due to their </a:t>
            </a:r>
            <a:r>
              <a:rPr lang="en-US" sz="700" b="1" dirty="0"/>
              <a:t>durability, high torque output, and reliability in demanding environments</a:t>
            </a:r>
            <a:r>
              <a:rPr lang="en-US" sz="700" dirty="0"/>
              <a:t>, and manufacturers are increasingly investing in </a:t>
            </a:r>
            <a:r>
              <a:rPr lang="en-US" sz="700" b="1" dirty="0"/>
              <a:t>advanced engine technologies</a:t>
            </a:r>
            <a:r>
              <a:rPr lang="en-US" sz="700" dirty="0"/>
              <a:t>, hybrid systems, and innovations to meet evolving performance and emission standards³. </a:t>
            </a:r>
          </a:p>
        </p:txBody>
      </p:sp>
      <p:sp>
        <p:nvSpPr>
          <p:cNvPr id="30" name="TextBox 29">
            <a:extLst>
              <a:ext uri="{FF2B5EF4-FFF2-40B4-BE49-F238E27FC236}">
                <a16:creationId xmlns:a16="http://schemas.microsoft.com/office/drawing/2014/main" id="{9793FBD2-AF19-A4F5-F171-3149E44A43BB}"/>
              </a:ext>
            </a:extLst>
          </p:cNvPr>
          <p:cNvSpPr txBox="1"/>
          <p:nvPr/>
        </p:nvSpPr>
        <p:spPr>
          <a:xfrm>
            <a:off x="3542536" y="2949505"/>
            <a:ext cx="3183792" cy="2246769"/>
          </a:xfrm>
          <a:prstGeom prst="rect">
            <a:avLst/>
          </a:prstGeom>
          <a:noFill/>
        </p:spPr>
        <p:txBody>
          <a:bodyPr wrap="square">
            <a:spAutoFit/>
          </a:bodyPr>
          <a:lstStyle/>
          <a:p>
            <a:r>
              <a:rPr lang="en-US" sz="700" dirty="0"/>
              <a:t>Caterpillar Inc. is the world’s leading manufacturer of </a:t>
            </a:r>
            <a:r>
              <a:rPr lang="en-US" sz="700" b="1" dirty="0"/>
              <a:t>construction and mining equipment, off‑highway diesel and natural gas engines, industrial gas turbines, and diesel‑electric locomotives</a:t>
            </a:r>
            <a:r>
              <a:rPr lang="en-US" sz="700" dirty="0"/>
              <a:t>, serving critical sectors such as infrastructure, mining, energy, and transportation⁴. Founded in 1925 and headquartered in Irving, Texas, Caterpillar’s </a:t>
            </a:r>
            <a:r>
              <a:rPr lang="en-US" sz="700" b="1" dirty="0"/>
              <a:t>diversified product portfolio</a:t>
            </a:r>
            <a:r>
              <a:rPr lang="en-US" sz="700" dirty="0"/>
              <a:t> and extensive </a:t>
            </a:r>
            <a:r>
              <a:rPr lang="en-US" sz="700" b="1" dirty="0"/>
              <a:t>global dealer network</a:t>
            </a:r>
            <a:r>
              <a:rPr lang="en-US" sz="700" dirty="0"/>
              <a:t> help it reach customers in nearly every region of the world, enhancing its competitive reach and customer support capabilities⁴. The company drives growth through a commitment to </a:t>
            </a:r>
            <a:r>
              <a:rPr lang="en-US" sz="700" b="1" dirty="0"/>
              <a:t>commercial excellence, advanced technology, and operational excellence</a:t>
            </a:r>
            <a:r>
              <a:rPr lang="en-US" sz="700" dirty="0"/>
              <a:t>, supported by strong customer partnerships and a focus on solving complex industrial challenges⁵.</a:t>
            </a:r>
          </a:p>
          <a:p>
            <a:endParaRPr lang="en-US" sz="400" dirty="0"/>
          </a:p>
          <a:p>
            <a:r>
              <a:rPr lang="en-US" sz="700" dirty="0"/>
              <a:t>Strategically, Caterpillar’s emphasis on </a:t>
            </a:r>
            <a:r>
              <a:rPr lang="en-US" sz="700" b="1" dirty="0"/>
              <a:t>technology integration—such as digital solutions, connectivity, and automation—positions it to improve productivity and efficiency for customers</a:t>
            </a:r>
            <a:r>
              <a:rPr lang="en-US" sz="700" dirty="0"/>
              <a:t>, aligning with trends toward smarter, more sustainable operations⁵. Its broad presence across essential industries and its focus on innovation give it resilience against cyclical downturns and competitive pressures, enabling the company to adapt and expand into new markets while maintaining leadership in traditional heavy machinery and power systems⁾⁶.</a:t>
            </a:r>
          </a:p>
        </p:txBody>
      </p:sp>
      <p:cxnSp>
        <p:nvCxnSpPr>
          <p:cNvPr id="31" name="Straight Connector 30">
            <a:extLst>
              <a:ext uri="{FF2B5EF4-FFF2-40B4-BE49-F238E27FC236}">
                <a16:creationId xmlns:a16="http://schemas.microsoft.com/office/drawing/2014/main" id="{E1735962-95C7-1C13-E957-69E87400C663}"/>
              </a:ext>
            </a:extLst>
          </p:cNvPr>
          <p:cNvCxnSpPr>
            <a:cxnSpLocks/>
          </p:cNvCxnSpPr>
          <p:nvPr/>
        </p:nvCxnSpPr>
        <p:spPr>
          <a:xfrm>
            <a:off x="3602772" y="2935988"/>
            <a:ext cx="2884667" cy="0"/>
          </a:xfrm>
          <a:prstGeom prst="line">
            <a:avLst/>
          </a:prstGeom>
        </p:spPr>
        <p:style>
          <a:lnRef idx="2">
            <a:schemeClr val="dk1"/>
          </a:lnRef>
          <a:fillRef idx="0">
            <a:schemeClr val="dk1"/>
          </a:fillRef>
          <a:effectRef idx="1">
            <a:schemeClr val="dk1"/>
          </a:effectRef>
          <a:fontRef idx="minor">
            <a:schemeClr val="tx1"/>
          </a:fontRef>
        </p:style>
      </p:cxnSp>
      <p:sp>
        <p:nvSpPr>
          <p:cNvPr id="32" name="TextBox 31">
            <a:extLst>
              <a:ext uri="{FF2B5EF4-FFF2-40B4-BE49-F238E27FC236}">
                <a16:creationId xmlns:a16="http://schemas.microsoft.com/office/drawing/2014/main" id="{391E4DEE-87D9-0E7F-FA99-58EE9C47645F}"/>
              </a:ext>
            </a:extLst>
          </p:cNvPr>
          <p:cNvSpPr txBox="1"/>
          <p:nvPr/>
        </p:nvSpPr>
        <p:spPr>
          <a:xfrm>
            <a:off x="3542536" y="2624659"/>
            <a:ext cx="3558012" cy="923330"/>
          </a:xfrm>
          <a:prstGeom prst="rect">
            <a:avLst/>
          </a:prstGeom>
          <a:noFill/>
        </p:spPr>
        <p:txBody>
          <a:bodyPr wrap="square" rtlCol="0">
            <a:spAutoFit/>
          </a:bodyPr>
          <a:lstStyle/>
          <a:p>
            <a:r>
              <a:rPr lang="en-US" b="1" dirty="0"/>
              <a:t>Company Overview</a:t>
            </a:r>
          </a:p>
          <a:p>
            <a:endParaRPr lang="en-US" b="1" dirty="0"/>
          </a:p>
          <a:p>
            <a:endParaRPr lang="en-US" b="1" dirty="0"/>
          </a:p>
        </p:txBody>
      </p:sp>
      <p:cxnSp>
        <p:nvCxnSpPr>
          <p:cNvPr id="33" name="Straight Connector 32">
            <a:extLst>
              <a:ext uri="{FF2B5EF4-FFF2-40B4-BE49-F238E27FC236}">
                <a16:creationId xmlns:a16="http://schemas.microsoft.com/office/drawing/2014/main" id="{42E43147-D681-2DE9-0DA6-BD703C3CCBEF}"/>
              </a:ext>
            </a:extLst>
          </p:cNvPr>
          <p:cNvCxnSpPr>
            <a:cxnSpLocks/>
          </p:cNvCxnSpPr>
          <p:nvPr/>
        </p:nvCxnSpPr>
        <p:spPr>
          <a:xfrm>
            <a:off x="205683" y="6418255"/>
            <a:ext cx="1748008" cy="0"/>
          </a:xfrm>
          <a:prstGeom prst="line">
            <a:avLst/>
          </a:prstGeom>
        </p:spPr>
        <p:style>
          <a:lnRef idx="2">
            <a:schemeClr val="dk1"/>
          </a:lnRef>
          <a:fillRef idx="0">
            <a:schemeClr val="dk1"/>
          </a:fillRef>
          <a:effectRef idx="1">
            <a:schemeClr val="dk1"/>
          </a:effectRef>
          <a:fontRef idx="minor">
            <a:schemeClr val="tx1"/>
          </a:fontRef>
        </p:style>
      </p:cxnSp>
      <p:sp>
        <p:nvSpPr>
          <p:cNvPr id="34" name="TextBox 33">
            <a:extLst>
              <a:ext uri="{FF2B5EF4-FFF2-40B4-BE49-F238E27FC236}">
                <a16:creationId xmlns:a16="http://schemas.microsoft.com/office/drawing/2014/main" id="{55AF6F69-A684-68BC-591F-7554A4950AEE}"/>
              </a:ext>
            </a:extLst>
          </p:cNvPr>
          <p:cNvSpPr txBox="1"/>
          <p:nvPr/>
        </p:nvSpPr>
        <p:spPr>
          <a:xfrm>
            <a:off x="145447" y="6106926"/>
            <a:ext cx="3112358" cy="1800493"/>
          </a:xfrm>
          <a:prstGeom prst="rect">
            <a:avLst/>
          </a:prstGeom>
          <a:noFill/>
        </p:spPr>
        <p:txBody>
          <a:bodyPr wrap="square" rtlCol="0">
            <a:spAutoFit/>
          </a:bodyPr>
          <a:lstStyle/>
          <a:p>
            <a:r>
              <a:rPr lang="en-US" b="1" dirty="0"/>
              <a:t>Tariff Mitigation</a:t>
            </a:r>
          </a:p>
          <a:p>
            <a:endParaRPr lang="en-US" sz="200" dirty="0"/>
          </a:p>
          <a:p>
            <a:r>
              <a:rPr lang="en-US" sz="700" dirty="0"/>
              <a:t>Caterpillar is actively managing significant </a:t>
            </a:r>
            <a:r>
              <a:rPr lang="en-US" sz="700" b="1" dirty="0"/>
              <a:t>cost pressures through strategic pricing and a shifting legal landscape</a:t>
            </a:r>
            <a:r>
              <a:rPr lang="en-US" sz="700" dirty="0"/>
              <a:t>. Although the company faced a $1.7 billion net incremental tariff headwind in 2025, which contributed to an operating margin compression from 18.0% to 13.9% in Q4, it has implemented disciplined pricing actions to protect its profitability.</a:t>
            </a:r>
            <a:r>
              <a:rPr lang="en-US" sz="700" baseline="30000" dirty="0"/>
              <a:t>10</a:t>
            </a:r>
            <a:r>
              <a:rPr lang="en-US" sz="700" dirty="0"/>
              <a:t> </a:t>
            </a:r>
          </a:p>
          <a:p>
            <a:endParaRPr lang="en-US" sz="400" dirty="0"/>
          </a:p>
          <a:p>
            <a:r>
              <a:rPr lang="en-US" sz="700" dirty="0"/>
              <a:t>A landmark February 2026 Supreme Court ruling, which limited the executive branch's power to unilaterally impose industrial tariffs, has significantly brightened the outlook by potentially reducing the $2.6 billion in tariff hits projected for the current year.</a:t>
            </a:r>
            <a:r>
              <a:rPr lang="en-US" sz="700" baseline="30000" dirty="0"/>
              <a:t>11</a:t>
            </a:r>
            <a:r>
              <a:rPr lang="en-US" sz="700" dirty="0"/>
              <a:t>Combined with a record-breaking $51.2 billion order backlog, a 71% year-over-year increase, these cost-mitigation efforts and judicial reliefs allow Caterpillar to project 2026 revenue growth at the top of its 5% to 7% long-term target range.</a:t>
            </a:r>
            <a:r>
              <a:rPr lang="en-US" sz="700" baseline="30000" dirty="0"/>
              <a:t>12</a:t>
            </a:r>
            <a:endParaRPr lang="en-US" sz="700" b="1" baseline="30000" dirty="0"/>
          </a:p>
        </p:txBody>
      </p:sp>
      <p:cxnSp>
        <p:nvCxnSpPr>
          <p:cNvPr id="36" name="Straight Connector 35">
            <a:extLst>
              <a:ext uri="{FF2B5EF4-FFF2-40B4-BE49-F238E27FC236}">
                <a16:creationId xmlns:a16="http://schemas.microsoft.com/office/drawing/2014/main" id="{77D3F873-1F4E-591A-2219-F7F8947BC0C8}"/>
              </a:ext>
            </a:extLst>
          </p:cNvPr>
          <p:cNvCxnSpPr>
            <a:cxnSpLocks/>
          </p:cNvCxnSpPr>
          <p:nvPr/>
        </p:nvCxnSpPr>
        <p:spPr>
          <a:xfrm>
            <a:off x="3602773" y="5818652"/>
            <a:ext cx="2732125" cy="0"/>
          </a:xfrm>
          <a:prstGeom prst="line">
            <a:avLst/>
          </a:prstGeom>
        </p:spPr>
        <p:style>
          <a:lnRef idx="2">
            <a:schemeClr val="dk1"/>
          </a:lnRef>
          <a:fillRef idx="0">
            <a:schemeClr val="dk1"/>
          </a:fillRef>
          <a:effectRef idx="1">
            <a:schemeClr val="dk1"/>
          </a:effectRef>
          <a:fontRef idx="minor">
            <a:schemeClr val="tx1"/>
          </a:fontRef>
        </p:style>
      </p:cxnSp>
      <p:sp>
        <p:nvSpPr>
          <p:cNvPr id="37" name="TextBox 36">
            <a:extLst>
              <a:ext uri="{FF2B5EF4-FFF2-40B4-BE49-F238E27FC236}">
                <a16:creationId xmlns:a16="http://schemas.microsoft.com/office/drawing/2014/main" id="{DAF833E9-B238-A540-38D3-50C20A7F837B}"/>
              </a:ext>
            </a:extLst>
          </p:cNvPr>
          <p:cNvSpPr txBox="1"/>
          <p:nvPr/>
        </p:nvSpPr>
        <p:spPr>
          <a:xfrm>
            <a:off x="3542536" y="5507323"/>
            <a:ext cx="3183791" cy="2185214"/>
          </a:xfrm>
          <a:prstGeom prst="rect">
            <a:avLst/>
          </a:prstGeom>
          <a:noFill/>
        </p:spPr>
        <p:txBody>
          <a:bodyPr wrap="square" rtlCol="0">
            <a:spAutoFit/>
          </a:bodyPr>
          <a:lstStyle/>
          <a:p>
            <a:r>
              <a:rPr lang="en-US" b="1" dirty="0"/>
              <a:t>Positive Revenue Outlook </a:t>
            </a:r>
          </a:p>
          <a:p>
            <a:endParaRPr lang="en-US" sz="200" dirty="0"/>
          </a:p>
          <a:p>
            <a:r>
              <a:rPr lang="en-US" sz="700" dirty="0"/>
              <a:t>Caterpillar is mitigating market volatility by expanding its </a:t>
            </a:r>
            <a:r>
              <a:rPr lang="en-US" sz="700" b="1" dirty="0"/>
              <a:t>high-margin services and aftermarket business</a:t>
            </a:r>
            <a:r>
              <a:rPr lang="en-US" sz="700" dirty="0"/>
              <a:t>, which transforms the company from a one-time equipment seller into a long-term service provider. Instead of just selling a bulldozer and walking away, Caterpillar now focuses on "aftermarket" revenue—the high-profit sales of replacement parts, digital monitoring, and maintenance contracts required to keep that machine running for its 10-to-20-year lifespan.</a:t>
            </a:r>
            <a:r>
              <a:rPr lang="en-US" sz="700" baseline="30000" dirty="0"/>
              <a:t>7 </a:t>
            </a:r>
            <a:r>
              <a:rPr lang="en-US" sz="700" dirty="0"/>
              <a:t>By using sensors on 4 million machines to predict failures before they happen, they grew service revenue to $24 billion in 2025 and aim for $30 billion by 2030; these services are "high-margin" because software and spare parts yield much higher profits than the initial sale of a heavy machine.</a:t>
            </a:r>
            <a:r>
              <a:rPr lang="en-US" sz="700" baseline="30000" dirty="0"/>
              <a:t>8 </a:t>
            </a:r>
            <a:r>
              <a:rPr lang="en-US" sz="700" dirty="0"/>
              <a:t>This strategy creates a "revenue boost" that acts as an "earnings floor," because even if a construction company stops buying new fleet during a recession, they must still pay for the parts and repairs provided by Caterpillar to keep their existing machines operational.</a:t>
            </a:r>
            <a:r>
              <a:rPr lang="en-US" sz="700" baseline="30000" dirty="0"/>
              <a:t>9</a:t>
            </a:r>
            <a:endParaRPr lang="en-US" sz="700" b="1" baseline="30000" dirty="0"/>
          </a:p>
          <a:p>
            <a:endParaRPr lang="en-US" b="1" dirty="0"/>
          </a:p>
        </p:txBody>
      </p:sp>
      <p:sp>
        <p:nvSpPr>
          <p:cNvPr id="2" name="TextBox 1">
            <a:extLst>
              <a:ext uri="{FF2B5EF4-FFF2-40B4-BE49-F238E27FC236}">
                <a16:creationId xmlns:a16="http://schemas.microsoft.com/office/drawing/2014/main" id="{29791876-B07D-6036-0F5F-17293C59D5CC}"/>
              </a:ext>
            </a:extLst>
          </p:cNvPr>
          <p:cNvSpPr txBox="1"/>
          <p:nvPr/>
        </p:nvSpPr>
        <p:spPr>
          <a:xfrm>
            <a:off x="262934" y="1069829"/>
            <a:ext cx="6947452" cy="307777"/>
          </a:xfrm>
          <a:prstGeom prst="rect">
            <a:avLst/>
          </a:prstGeom>
          <a:noFill/>
        </p:spPr>
        <p:txBody>
          <a:bodyPr wrap="square" rtlCol="0">
            <a:spAutoFit/>
          </a:bodyPr>
          <a:lstStyle/>
          <a:p>
            <a:r>
              <a:rPr lang="en-US" sz="1400" dirty="0"/>
              <a:t>Price: 722         MKT CAP: 342B        Price Target: 737.55        Implied Upside: 2.15%</a:t>
            </a:r>
          </a:p>
        </p:txBody>
      </p:sp>
      <p:pic>
        <p:nvPicPr>
          <p:cNvPr id="18" name="Picture 17">
            <a:extLst>
              <a:ext uri="{FF2B5EF4-FFF2-40B4-BE49-F238E27FC236}">
                <a16:creationId xmlns:a16="http://schemas.microsoft.com/office/drawing/2014/main" id="{681EF09B-DF90-F4DD-1B24-1D45DA0EF40E}"/>
              </a:ext>
            </a:extLst>
          </p:cNvPr>
          <p:cNvPicPr>
            <a:picLocks noChangeAspect="1"/>
          </p:cNvPicPr>
          <p:nvPr/>
        </p:nvPicPr>
        <p:blipFill>
          <a:blip r:embed="rId2"/>
          <a:srcRect t="4074" b="-1"/>
          <a:stretch>
            <a:fillRect/>
          </a:stretch>
        </p:blipFill>
        <p:spPr>
          <a:xfrm>
            <a:off x="145447" y="4327865"/>
            <a:ext cx="2956684" cy="1725743"/>
          </a:xfrm>
          <a:prstGeom prst="rect">
            <a:avLst/>
          </a:prstGeom>
        </p:spPr>
      </p:pic>
      <p:pic>
        <p:nvPicPr>
          <p:cNvPr id="20" name="Picture 19">
            <a:extLst>
              <a:ext uri="{FF2B5EF4-FFF2-40B4-BE49-F238E27FC236}">
                <a16:creationId xmlns:a16="http://schemas.microsoft.com/office/drawing/2014/main" id="{ED8DADF1-54AF-6D15-9135-1D8A449D8B60}"/>
              </a:ext>
            </a:extLst>
          </p:cNvPr>
          <p:cNvPicPr>
            <a:picLocks noChangeAspect="1"/>
          </p:cNvPicPr>
          <p:nvPr/>
        </p:nvPicPr>
        <p:blipFill>
          <a:blip r:embed="rId3"/>
          <a:stretch>
            <a:fillRect/>
          </a:stretch>
        </p:blipFill>
        <p:spPr>
          <a:xfrm>
            <a:off x="514118" y="7814205"/>
            <a:ext cx="2219341" cy="1800238"/>
          </a:xfrm>
          <a:prstGeom prst="rect">
            <a:avLst/>
          </a:prstGeom>
        </p:spPr>
      </p:pic>
      <p:pic>
        <p:nvPicPr>
          <p:cNvPr id="22" name="Picture 21">
            <a:extLst>
              <a:ext uri="{FF2B5EF4-FFF2-40B4-BE49-F238E27FC236}">
                <a16:creationId xmlns:a16="http://schemas.microsoft.com/office/drawing/2014/main" id="{C2E3FB54-74F4-8A8F-B978-9D4DB4EB7921}"/>
              </a:ext>
            </a:extLst>
          </p:cNvPr>
          <p:cNvPicPr>
            <a:picLocks noChangeAspect="1"/>
          </p:cNvPicPr>
          <p:nvPr/>
        </p:nvPicPr>
        <p:blipFill>
          <a:blip r:embed="rId4"/>
          <a:srcRect l="2552"/>
          <a:stretch>
            <a:fillRect/>
          </a:stretch>
        </p:blipFill>
        <p:spPr>
          <a:xfrm>
            <a:off x="3600395" y="7819478"/>
            <a:ext cx="3068072" cy="1358607"/>
          </a:xfrm>
          <a:prstGeom prst="rect">
            <a:avLst/>
          </a:prstGeom>
        </p:spPr>
      </p:pic>
      <p:sp>
        <p:nvSpPr>
          <p:cNvPr id="23" name="TextBox 22">
            <a:extLst>
              <a:ext uri="{FF2B5EF4-FFF2-40B4-BE49-F238E27FC236}">
                <a16:creationId xmlns:a16="http://schemas.microsoft.com/office/drawing/2014/main" id="{14A453C7-B6B4-534E-525E-DD4124075F73}"/>
              </a:ext>
            </a:extLst>
          </p:cNvPr>
          <p:cNvSpPr txBox="1"/>
          <p:nvPr/>
        </p:nvSpPr>
        <p:spPr>
          <a:xfrm>
            <a:off x="5260367" y="7737261"/>
            <a:ext cx="593969" cy="153888"/>
          </a:xfrm>
          <a:prstGeom prst="rect">
            <a:avLst/>
          </a:prstGeom>
          <a:noFill/>
        </p:spPr>
        <p:txBody>
          <a:bodyPr wrap="square" rtlCol="0">
            <a:spAutoFit/>
          </a:bodyPr>
          <a:lstStyle/>
          <a:p>
            <a:r>
              <a:rPr lang="en-US" sz="400" dirty="0"/>
              <a:t>13</a:t>
            </a:r>
          </a:p>
        </p:txBody>
      </p:sp>
      <p:sp>
        <p:nvSpPr>
          <p:cNvPr id="24" name="TextBox 23">
            <a:extLst>
              <a:ext uri="{FF2B5EF4-FFF2-40B4-BE49-F238E27FC236}">
                <a16:creationId xmlns:a16="http://schemas.microsoft.com/office/drawing/2014/main" id="{CCC50B30-5D9C-45A8-6960-8CA6D79E0606}"/>
              </a:ext>
            </a:extLst>
          </p:cNvPr>
          <p:cNvSpPr txBox="1"/>
          <p:nvPr/>
        </p:nvSpPr>
        <p:spPr>
          <a:xfrm>
            <a:off x="2572503" y="4242786"/>
            <a:ext cx="593969" cy="153888"/>
          </a:xfrm>
          <a:prstGeom prst="rect">
            <a:avLst/>
          </a:prstGeom>
          <a:noFill/>
        </p:spPr>
        <p:txBody>
          <a:bodyPr wrap="square" rtlCol="0">
            <a:spAutoFit/>
          </a:bodyPr>
          <a:lstStyle/>
          <a:p>
            <a:r>
              <a:rPr lang="en-US" sz="400" dirty="0"/>
              <a:t>13</a:t>
            </a:r>
          </a:p>
        </p:txBody>
      </p:sp>
      <p:sp>
        <p:nvSpPr>
          <p:cNvPr id="26" name="TextBox 25">
            <a:extLst>
              <a:ext uri="{FF2B5EF4-FFF2-40B4-BE49-F238E27FC236}">
                <a16:creationId xmlns:a16="http://schemas.microsoft.com/office/drawing/2014/main" id="{A5E9D8FF-37ED-7894-F46D-AB009933216A}"/>
              </a:ext>
            </a:extLst>
          </p:cNvPr>
          <p:cNvSpPr txBox="1"/>
          <p:nvPr/>
        </p:nvSpPr>
        <p:spPr>
          <a:xfrm>
            <a:off x="2401663" y="7876926"/>
            <a:ext cx="593969" cy="153888"/>
          </a:xfrm>
          <a:prstGeom prst="rect">
            <a:avLst/>
          </a:prstGeom>
          <a:noFill/>
        </p:spPr>
        <p:txBody>
          <a:bodyPr wrap="square" rtlCol="0">
            <a:spAutoFit/>
          </a:bodyPr>
          <a:lstStyle/>
          <a:p>
            <a:r>
              <a:rPr lang="en-US" sz="400" dirty="0"/>
              <a:t>13</a:t>
            </a:r>
          </a:p>
        </p:txBody>
      </p:sp>
    </p:spTree>
    <p:extLst>
      <p:ext uri="{BB962C8B-B14F-4D97-AF65-F5344CB8AC3E}">
        <p14:creationId xmlns:p14="http://schemas.microsoft.com/office/powerpoint/2010/main" val="3270125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560</TotalTime>
  <Words>3361</Words>
  <Application>Microsoft Office PowerPoint</Application>
  <PresentationFormat>Custom</PresentationFormat>
  <Paragraphs>96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Toll Brothers Inc (NYSE: TOL)</vt:lpstr>
      <vt:lpstr>Dell Technologies (NYSE: DELL)</vt:lpstr>
      <vt:lpstr>Stanley Black &amp; Decker (NYSE: SWK)</vt:lpstr>
      <vt:lpstr>Caterpillar (NYSE: CAT)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Grant Simon</dc:creator>
  <cp:lastModifiedBy>Grant Simon</cp:lastModifiedBy>
  <cp:revision>2</cp:revision>
  <dcterms:created xsi:type="dcterms:W3CDTF">2026-03-25T19:10:35Z</dcterms:created>
  <dcterms:modified xsi:type="dcterms:W3CDTF">2026-04-01T20:06:38Z</dcterms:modified>
</cp:coreProperties>
</file>